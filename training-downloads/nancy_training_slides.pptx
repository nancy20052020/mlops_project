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C3A60F4A-43C7-4AB2-BD7C-8030E5791D9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1143000" y="685800"/>
            <a:ext cx="4571640" cy="3428640"/>
          </a:xfrm>
          <a:prstGeom prst="rect">
            <a:avLst/>
          </a:prstGeom>
          <a:ln w="0">
            <a:noFill/>
          </a:ln>
        </p:spPr>
      </p:sp>
      <p:sp>
        <p:nvSpPr>
          <p:cNvPr id="23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Good morning. I am Nancy Verma. This presentation is my industrial training on remote sensing and GIS. I did two projects: drought in Jalna, and urban heat in Delhi. My supervisor was Miss Alisha Sinha at India Space Academy.</a:t>
            </a:r>
            <a:endParaRPr b="0" lang="en-US" sz="2000" spc="-1" strike="noStrike">
              <a:solidFill>
                <a:srgbClr val="000000"/>
              </a:solidFill>
              <a:latin typeface="Arial"/>
            </a:endParaRPr>
          </a:p>
        </p:txBody>
      </p:sp>
      <p:sp>
        <p:nvSpPr>
          <p:cNvPr id="238"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89ADD55-6A90-41A9-B3A6-CE304FF26AE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1143000" y="685800"/>
            <a:ext cx="4571640" cy="3428640"/>
          </a:xfrm>
          <a:prstGeom prst="rect">
            <a:avLst/>
          </a:prstGeom>
          <a:ln w="0">
            <a:noFill/>
          </a:ln>
        </p:spPr>
      </p:sp>
      <p:sp>
        <p:nvSpPr>
          <p:cNvPr id="24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Both projects use the same path. I took an administrative boundary, processed the satellite data in Google Earth Engine, and prepared the maps in QGIS 3.40. Jalna asks about vegetation stress. Delhi asks about surface heat.</a:t>
            </a:r>
            <a:endParaRPr b="0" lang="en-US" sz="2000" spc="-1" strike="noStrike">
              <a:solidFill>
                <a:srgbClr val="000000"/>
              </a:solidFill>
              <a:latin typeface="Arial"/>
            </a:endParaRPr>
          </a:p>
        </p:txBody>
      </p:sp>
      <p:sp>
        <p:nvSpPr>
          <p:cNvPr id="241"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A148469-EF10-4960-8E05-9B26A42F73F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1143000" y="685800"/>
            <a:ext cx="4571640" cy="3428640"/>
          </a:xfrm>
          <a:prstGeom prst="rect">
            <a:avLst/>
          </a:prstGeom>
          <a:ln w="0">
            <a:noFill/>
          </a:ln>
        </p:spPr>
      </p:sp>
      <p:sp>
        <p:nvSpPr>
          <p:cNvPr id="24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VCI compares 2023 with the best and worst NDVI at the same place between 2015 and 2023. A low value means the vegetation is close to its worst year in that record. I used four classes. The district mean, 0.488, is inside the mild class.</a:t>
            </a:r>
            <a:endParaRPr b="0" lang="en-US" sz="2000" spc="-1" strike="noStrike">
              <a:solidFill>
                <a:srgbClr val="000000"/>
              </a:solidFill>
              <a:latin typeface="Arial"/>
            </a:endParaRPr>
          </a:p>
        </p:txBody>
      </p:sp>
      <p:sp>
        <p:nvSpPr>
          <p:cNvPr id="244"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9AD28C1-0A58-499C-AC3F-63A6DB83B1A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1143000" y="685800"/>
            <a:ext cx="4571640" cy="3428640"/>
          </a:xfrm>
          <a:prstGeom prst="rect">
            <a:avLst/>
          </a:prstGeom>
          <a:ln w="0">
            <a:noFill/>
          </a:ln>
        </p:spPr>
      </p:sp>
      <p:sp>
        <p:nvSpPr>
          <p:cNvPr id="24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Please look at the map. Almost the whole district is the mild class. Moderate drought is scattered, more of it in the north. Extreme drought is a very small patch. Mild drought is 6,821.66 square kilometres, about 87.7 percent of the classified area. I would not call this an easy year. The mean VCI is still only 0.488.</a:t>
            </a:r>
            <a:endParaRPr b="0" lang="en-US" sz="2000" spc="-1" strike="noStrike">
              <a:solidFill>
                <a:srgbClr val="000000"/>
              </a:solidFill>
              <a:latin typeface="Arial"/>
            </a:endParaRPr>
          </a:p>
        </p:txBody>
      </p:sp>
      <p:sp>
        <p:nvSpPr>
          <p:cNvPr id="247"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C128ECB-60EE-4C59-8035-ACCD9F7DC86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1143000" y="685800"/>
            <a:ext cx="4571640" cy="3428640"/>
          </a:xfrm>
          <a:prstGeom prst="rect">
            <a:avLst/>
          </a:prstGeom>
          <a:ln w="0">
            <a:noFill/>
          </a:ln>
        </p:spPr>
      </p:sp>
      <p:sp>
        <p:nvSpPr>
          <p:cNvPr id="24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For Delhi I used summer Landsat-8 images with less than 10 percent cloud. NDVI is the vegetation index. NDBI is the built-up index. Temperature comes from the ST_B10 band, converted to Celsius with the scale and offset from the project. A hotspot in this project means surface temperature above 50 degrees. That rule is the project’s choice. It is not a universal definition of an urban heat island.</a:t>
            </a:r>
            <a:endParaRPr b="0" lang="en-US" sz="2000" spc="-1" strike="noStrike">
              <a:solidFill>
                <a:srgbClr val="000000"/>
              </a:solidFill>
              <a:latin typeface="Arial"/>
            </a:endParaRPr>
          </a:p>
        </p:txBody>
      </p:sp>
      <p:sp>
        <p:nvSpPr>
          <p:cNvPr id="250"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B8F2CB9-6DFF-499B-B094-72459C2D7F1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1143000" y="685800"/>
            <a:ext cx="4571640" cy="3428640"/>
          </a:xfrm>
          <a:prstGeom prst="rect">
            <a:avLst/>
          </a:prstGeom>
          <a:ln w="0">
            <a:noFill/>
          </a:ln>
        </p:spPr>
      </p:sp>
      <p:sp>
        <p:nvSpPr>
          <p:cNvPr id="25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mean temperature, 46.66 degrees, sits in the high zone, and that zone is the largest area. The red patches on the map are the west and south-west. The Yamuna shows up as a cooler thread. The hotspot is 259.16 square kilometres, 17.25 percent of the classified area of 1,502.20 square kilometres. The study-area text also says about 1,483 square kilometres. I use 1,502.20 for the percentage because that is the sum of the four heat zones. This is surface temperature, not the air temperature a person feels.</a:t>
            </a:r>
            <a:endParaRPr b="0" lang="en-US" sz="2000" spc="-1" strike="noStrike">
              <a:solidFill>
                <a:srgbClr val="000000"/>
              </a:solidFill>
              <a:latin typeface="Arial"/>
            </a:endParaRPr>
          </a:p>
        </p:txBody>
      </p:sp>
      <p:sp>
        <p:nvSpPr>
          <p:cNvPr id="253"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BFC77B6-F026-4397-A6F2-F3CFC9F8250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1143000" y="685800"/>
            <a:ext cx="4571640" cy="3428640"/>
          </a:xfrm>
          <a:prstGeom prst="rect">
            <a:avLst/>
          </a:prstGeom>
          <a:ln w="0">
            <a:noFill/>
          </a:ln>
        </p:spPr>
      </p:sp>
      <p:sp>
        <p:nvSpPr>
          <p:cNvPr id="25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On the left, temperature falls as NDVI rises. The r squared is 0.263, so vegetation explains only part of the pattern. On the right, temperature rises with NDBI, and the r squared is 0.574. That is the tighter fit. I would say greener places tend to be cooler, and more built-up places tend to be hotter, in this one summer composite.</a:t>
            </a:r>
            <a:endParaRPr b="0" lang="en-US" sz="2000" spc="-1" strike="noStrike">
              <a:solidFill>
                <a:srgbClr val="000000"/>
              </a:solidFill>
              <a:latin typeface="Arial"/>
            </a:endParaRPr>
          </a:p>
        </p:txBody>
      </p:sp>
      <p:sp>
        <p:nvSpPr>
          <p:cNvPr id="256"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FE0950B-3C8E-44DB-A018-C42218B6BBB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1143000" y="685800"/>
            <a:ext cx="4571640" cy="3428640"/>
          </a:xfrm>
          <a:prstGeom prst="rect">
            <a:avLst/>
          </a:prstGeom>
          <a:ln w="0">
            <a:noFill/>
          </a:ln>
        </p:spPr>
      </p:sp>
      <p:sp>
        <p:nvSpPr>
          <p:cNvPr id="25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 will close on three points. In Jalna, 2023 vegetation was widely in mild stress, and the extreme class was very small. In Delhi, about one sixth of the classified surface was above 50 degrees in April to June 2024. I am treating both as screening maps, not as field-checked maps. Thank you. I am happy to take questions.</a:t>
            </a:r>
            <a:endParaRPr b="0" lang="en-US" sz="2000" spc="-1" strike="noStrike">
              <a:solidFill>
                <a:srgbClr val="000000"/>
              </a:solidFill>
              <a:latin typeface="Arial"/>
            </a:endParaRPr>
          </a:p>
        </p:txBody>
      </p:sp>
      <p:sp>
        <p:nvSpPr>
          <p:cNvPr id="259"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C75E70D-467A-4242-A39F-C0B95E41DEF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9A42CA7-1B05-45B3-8867-64F04D98845D}"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7585001-8FB0-458A-97D5-59FAC3876C69}"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E2EC0DE-50A9-4E89-BC48-3D134674963F}"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19F4389-D927-4A56-A828-F6FBF0C01607}"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43EFFB3C-F935-4F81-BB2D-EFF1891143C1}"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445C1557-7E3B-4DDE-AC14-E261CF991F40}"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0B06F010-ED1D-440E-8611-F4B847221D8A}"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62E92503-C356-4F34-A250-4CD3AB1F1D03}"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4DB0CAC6-989F-450E-9164-71292042FCAC}"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EC968E55-7054-4B0D-87EC-F42BAC29245A}"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6263379A-270A-44B0-A343-CD69523DFCFF}"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A4159BD-A007-429F-8D9C-729CC9250AC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29D1C9C-9A40-44EC-8550-FE4DB29C3F6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7229163-FAD4-4569-BC08-752CA077884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6CE8317-80C1-4EEC-86B5-039DE58A9F6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406A41C-E88A-4796-A671-9CE38BBF302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9BB7A00-D804-423B-99A5-3B109654548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73F0E28-10DE-4FAD-84B8-46DE7F5B9B8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9DEF5B6-BE14-4749-B137-10E48BF8441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610F963-5B14-41A0-85A4-217EA4DF6F3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F776268-A67B-4A47-90EB-380FD55B167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50DB330-8CE0-4D48-AE98-35BDFF6C43C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9.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slideLayout" Target="../slideLayouts/slideLayout9.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3ec"/>
        </a:solidFill>
      </p:bgPr>
    </p:bg>
    <p:spTree>
      <p:nvGrpSpPr>
        <p:cNvPr id="1" name=""/>
        <p:cNvGrpSpPr/>
        <p:nvPr/>
      </p:nvGrpSpPr>
      <p:grpSpPr>
        <a:xfrm>
          <a:off x="0" y="0"/>
          <a:ext cx="0" cy="0"/>
          <a:chOff x="0" y="0"/>
          <a:chExt cx="0" cy="0"/>
        </a:xfrm>
      </p:grpSpPr>
      <p:sp>
        <p:nvSpPr>
          <p:cNvPr id="73" name="Rectangle 1"/>
          <p:cNvSpPr/>
          <p:nvPr/>
        </p:nvSpPr>
        <p:spPr>
          <a:xfrm>
            <a:off x="0" y="0"/>
            <a:ext cx="164160" cy="685764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74" name="Picture 2" descr="mahe-logo.jpg"/>
          <p:cNvPicPr/>
          <p:nvPr/>
        </p:nvPicPr>
        <p:blipFill>
          <a:blip r:embed="rId1"/>
          <a:stretch/>
        </p:blipFill>
        <p:spPr>
          <a:xfrm>
            <a:off x="4434840" y="255960"/>
            <a:ext cx="3291480" cy="2065320"/>
          </a:xfrm>
          <a:prstGeom prst="rect">
            <a:avLst/>
          </a:prstGeom>
          <a:ln w="0">
            <a:noFill/>
          </a:ln>
        </p:spPr>
      </p:pic>
      <p:sp>
        <p:nvSpPr>
          <p:cNvPr id="75" name="TextBox 3"/>
          <p:cNvSpPr/>
          <p:nvPr/>
        </p:nvSpPr>
        <p:spPr>
          <a:xfrm>
            <a:off x="640080" y="2450520"/>
            <a:ext cx="10881000" cy="255600"/>
          </a:xfrm>
          <a:prstGeom prst="rect">
            <a:avLst/>
          </a:prstGeom>
          <a:noFill/>
          <a:ln w="0">
            <a:noFill/>
          </a:ln>
        </p:spPr>
        <p:style>
          <a:lnRef idx="0"/>
          <a:fillRef idx="0"/>
          <a:effectRef idx="0"/>
          <a:fontRef idx="minor"/>
        </p:style>
        <p:txBody>
          <a:bodyPr lIns="0" rIns="0" tIns="0" bIns="0" anchor="t">
            <a:noAutofit/>
          </a:bodyPr>
          <a:p>
            <a:pPr algn="ctr" defTabSz="457200">
              <a:lnSpc>
                <a:spcPct val="100000"/>
              </a:lnSpc>
            </a:pPr>
            <a:r>
              <a:rPr b="1" lang="en-US" sz="1300" spc="-1" strike="noStrike">
                <a:solidFill>
                  <a:srgbClr val="8f6e32"/>
                </a:solidFill>
                <a:latin typeface="Calibri"/>
                <a:ea typeface="Calibri"/>
              </a:rPr>
              <a:t>INDUSTRIAL TRAINING PRESENTATION</a:t>
            </a:r>
            <a:endParaRPr b="0" lang="en-US" sz="1300" spc="-1" strike="noStrike">
              <a:solidFill>
                <a:srgbClr val="000000"/>
              </a:solidFill>
              <a:latin typeface="Arial"/>
            </a:endParaRPr>
          </a:p>
        </p:txBody>
      </p:sp>
      <p:sp>
        <p:nvSpPr>
          <p:cNvPr id="76" name="TextBox 4"/>
          <p:cNvSpPr/>
          <p:nvPr/>
        </p:nvSpPr>
        <p:spPr>
          <a:xfrm>
            <a:off x="731520" y="2724840"/>
            <a:ext cx="10698120" cy="639720"/>
          </a:xfrm>
          <a:prstGeom prst="rect">
            <a:avLst/>
          </a:prstGeom>
          <a:noFill/>
          <a:ln w="0">
            <a:noFill/>
          </a:ln>
        </p:spPr>
        <p:style>
          <a:lnRef idx="0"/>
          <a:fillRef idx="0"/>
          <a:effectRef idx="0"/>
          <a:fontRef idx="minor"/>
        </p:style>
        <p:txBody>
          <a:bodyPr lIns="0" rIns="0" tIns="0" bIns="0" anchor="t">
            <a:noAutofit/>
          </a:bodyPr>
          <a:p>
            <a:pPr algn="ctr" defTabSz="457200">
              <a:lnSpc>
                <a:spcPct val="100000"/>
              </a:lnSpc>
            </a:pPr>
            <a:r>
              <a:rPr b="1" lang="en-US" sz="3400" spc="-1" strike="noStrike">
                <a:solidFill>
                  <a:srgbClr val="1c2430"/>
                </a:solidFill>
                <a:latin typeface="Calibri"/>
                <a:ea typeface="Calibri"/>
              </a:rPr>
              <a:t>Remote Sensing and GIS Using Python</a:t>
            </a:r>
            <a:endParaRPr b="0" lang="en-US" sz="3400" spc="-1" strike="noStrike">
              <a:solidFill>
                <a:srgbClr val="000000"/>
              </a:solidFill>
              <a:latin typeface="Arial"/>
            </a:endParaRPr>
          </a:p>
        </p:txBody>
      </p:sp>
      <p:sp>
        <p:nvSpPr>
          <p:cNvPr id="77" name="Rectangle 5"/>
          <p:cNvSpPr/>
          <p:nvPr/>
        </p:nvSpPr>
        <p:spPr>
          <a:xfrm>
            <a:off x="5349240" y="3456360"/>
            <a:ext cx="1462680" cy="31680"/>
          </a:xfrm>
          <a:prstGeom prst="rect">
            <a:avLst/>
          </a:prstGeom>
          <a:solidFill>
            <a:srgbClr val="8f6e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2960" bIns="-12960" anchor="ctr">
            <a:noAutofit/>
          </a:bodyPr>
          <a:p>
            <a:pPr algn="ctr" defTabSz="457200">
              <a:lnSpc>
                <a:spcPct val="100000"/>
              </a:lnSpc>
            </a:pPr>
            <a:endParaRPr b="0" lang="en-US" sz="1800" spc="-1" strike="noStrike">
              <a:solidFill>
                <a:schemeClr val="lt1"/>
              </a:solidFill>
              <a:latin typeface="Calibri"/>
            </a:endParaRPr>
          </a:p>
        </p:txBody>
      </p:sp>
      <p:sp>
        <p:nvSpPr>
          <p:cNvPr id="78" name="TextBox 6"/>
          <p:cNvSpPr/>
          <p:nvPr/>
        </p:nvSpPr>
        <p:spPr>
          <a:xfrm>
            <a:off x="1188720" y="3611880"/>
            <a:ext cx="9783720" cy="5133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spcAft>
                <a:spcPts val="201"/>
              </a:spcAft>
            </a:pPr>
            <a:r>
              <a:rPr b="0" lang="en-US" sz="1600" spc="-1" strike="noStrike">
                <a:solidFill>
                  <a:srgbClr val="1c2430"/>
                </a:solidFill>
                <a:latin typeface="Calibri"/>
                <a:ea typeface="Calibri"/>
              </a:rPr>
              <a:t>Project 1    Drought severity in Jalna District, 2023</a:t>
            </a:r>
            <a:endParaRPr b="0" lang="en-US" sz="1600" spc="-1" strike="noStrike">
              <a:solidFill>
                <a:srgbClr val="000000"/>
              </a:solidFill>
              <a:latin typeface="Arial"/>
            </a:endParaRPr>
          </a:p>
          <a:p>
            <a:pPr algn="ctr" defTabSz="457200">
              <a:lnSpc>
                <a:spcPct val="100000"/>
              </a:lnSpc>
              <a:spcAft>
                <a:spcPts val="201"/>
              </a:spcAft>
            </a:pPr>
            <a:r>
              <a:rPr b="0" lang="en-US" sz="1600" spc="-1" strike="noStrike">
                <a:solidFill>
                  <a:srgbClr val="1c2430"/>
                </a:solidFill>
                <a:latin typeface="Calibri"/>
                <a:ea typeface="Calibri"/>
              </a:rPr>
              <a:t>Project 2    Urban heat in Delhi, April–June 2024</a:t>
            </a:r>
            <a:endParaRPr b="0" lang="en-US" sz="1600" spc="-1" strike="noStrike">
              <a:solidFill>
                <a:srgbClr val="000000"/>
              </a:solidFill>
              <a:latin typeface="Arial"/>
            </a:endParaRPr>
          </a:p>
        </p:txBody>
      </p:sp>
      <p:sp>
        <p:nvSpPr>
          <p:cNvPr id="79" name="Rectangle 7"/>
          <p:cNvSpPr/>
          <p:nvPr/>
        </p:nvSpPr>
        <p:spPr>
          <a:xfrm>
            <a:off x="0" y="5349240"/>
            <a:ext cx="12191400" cy="1508400"/>
          </a:xfrm>
          <a:prstGeom prst="rect">
            <a:avLst/>
          </a:prstGeom>
          <a:solidFill>
            <a:srgbClr val="1433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0" name="Rectangle 8"/>
          <p:cNvSpPr/>
          <p:nvPr/>
        </p:nvSpPr>
        <p:spPr>
          <a:xfrm>
            <a:off x="0" y="5349240"/>
            <a:ext cx="164160" cy="1508400"/>
          </a:xfrm>
          <a:prstGeom prst="rect">
            <a:avLst/>
          </a:prstGeom>
          <a:solidFill>
            <a:srgbClr val="8f6e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1" name="TextBox 9"/>
          <p:cNvSpPr/>
          <p:nvPr/>
        </p:nvSpPr>
        <p:spPr>
          <a:xfrm>
            <a:off x="640080" y="5532120"/>
            <a:ext cx="10972440" cy="8136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201"/>
              </a:spcAft>
            </a:pPr>
            <a:r>
              <a:rPr b="1" lang="en-US" sz="2200" spc="-1" strike="noStrike">
                <a:solidFill>
                  <a:srgbClr val="ffffff"/>
                </a:solidFill>
                <a:latin typeface="Calibri"/>
                <a:ea typeface="Calibri"/>
              </a:rPr>
              <a:t>Nancy Verma</a:t>
            </a:r>
            <a:endParaRPr b="0" lang="en-US" sz="2200" spc="-1" strike="noStrike">
              <a:solidFill>
                <a:srgbClr val="000000"/>
              </a:solidFill>
              <a:latin typeface="Arial"/>
            </a:endParaRPr>
          </a:p>
          <a:p>
            <a:pPr defTabSz="457200">
              <a:lnSpc>
                <a:spcPct val="100000"/>
              </a:lnSpc>
              <a:spcAft>
                <a:spcPts val="201"/>
              </a:spcAft>
            </a:pPr>
            <a:r>
              <a:rPr b="0" lang="en-US" sz="1400" spc="-1" strike="noStrike">
                <a:solidFill>
                  <a:srgbClr val="d7e6dc"/>
                </a:solidFill>
                <a:latin typeface="Calibri"/>
                <a:ea typeface="Calibri"/>
              </a:rPr>
              <a:t>Reg. No. 23FE10CAI00241   ·   B.Tech, Artificial Intelligence and Machine Learning</a:t>
            </a:r>
            <a:endParaRPr b="0" lang="en-US" sz="1400" spc="-1" strike="noStrike">
              <a:solidFill>
                <a:srgbClr val="000000"/>
              </a:solidFill>
              <a:latin typeface="Arial"/>
            </a:endParaRPr>
          </a:p>
          <a:p>
            <a:pPr defTabSz="457200">
              <a:lnSpc>
                <a:spcPct val="100000"/>
              </a:lnSpc>
              <a:spcAft>
                <a:spcPts val="201"/>
              </a:spcAft>
            </a:pPr>
            <a:r>
              <a:rPr b="0" lang="en-US" sz="1400" spc="-1" strike="noStrike">
                <a:solidFill>
                  <a:srgbClr val="d7e6dc"/>
                </a:solidFill>
                <a:latin typeface="Calibri"/>
                <a:ea typeface="Calibri"/>
              </a:rPr>
              <a:t>Manipal University Jaipur    ·    Supervisor: Miss Alisha Sinha, India Space Academy</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3ec"/>
        </a:solidFill>
      </p:bgPr>
    </p:bg>
    <p:spTree>
      <p:nvGrpSpPr>
        <p:cNvPr id="1" name=""/>
        <p:cNvGrpSpPr/>
        <p:nvPr/>
      </p:nvGrpSpPr>
      <p:grpSpPr>
        <a:xfrm>
          <a:off x="0" y="0"/>
          <a:ext cx="0" cy="0"/>
          <a:chOff x="0" y="0"/>
          <a:chExt cx="0" cy="0"/>
        </a:xfrm>
      </p:grpSpPr>
      <p:sp>
        <p:nvSpPr>
          <p:cNvPr id="82" name="Rectangle 1"/>
          <p:cNvSpPr/>
          <p:nvPr/>
        </p:nvSpPr>
        <p:spPr>
          <a:xfrm>
            <a:off x="0" y="0"/>
            <a:ext cx="12191400" cy="7272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83" name="TextBox 2"/>
          <p:cNvSpPr/>
          <p:nvPr/>
        </p:nvSpPr>
        <p:spPr>
          <a:xfrm>
            <a:off x="438840" y="201240"/>
            <a:ext cx="1124676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200" spc="-1" strike="noStrike">
                <a:solidFill>
                  <a:srgbClr val="8f6e32"/>
                </a:solidFill>
                <a:latin typeface="Calibri"/>
                <a:ea typeface="Calibri"/>
              </a:rPr>
              <a:t>OVERVIEW</a:t>
            </a:r>
            <a:endParaRPr b="0" lang="en-US" sz="1200" spc="-1" strike="noStrike">
              <a:solidFill>
                <a:srgbClr val="000000"/>
              </a:solidFill>
              <a:latin typeface="Arial"/>
            </a:endParaRPr>
          </a:p>
        </p:txBody>
      </p:sp>
      <p:sp>
        <p:nvSpPr>
          <p:cNvPr id="84" name="TextBox 3"/>
          <p:cNvSpPr/>
          <p:nvPr/>
        </p:nvSpPr>
        <p:spPr>
          <a:xfrm>
            <a:off x="438840" y="420480"/>
            <a:ext cx="11246760" cy="4384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800" spc="-1" strike="noStrike">
                <a:solidFill>
                  <a:srgbClr val="1c2430"/>
                </a:solidFill>
                <a:latin typeface="Calibri"/>
                <a:ea typeface="Calibri"/>
              </a:rPr>
              <a:t>Two projects, one way of working</a:t>
            </a:r>
            <a:endParaRPr b="0" lang="en-US" sz="2800" spc="-1" strike="noStrike">
              <a:solidFill>
                <a:srgbClr val="000000"/>
              </a:solidFill>
              <a:latin typeface="Arial"/>
            </a:endParaRPr>
          </a:p>
        </p:txBody>
      </p:sp>
      <p:sp>
        <p:nvSpPr>
          <p:cNvPr id="85" name="Rectangle 4"/>
          <p:cNvSpPr/>
          <p:nvPr/>
        </p:nvSpPr>
        <p:spPr>
          <a:xfrm>
            <a:off x="0" y="6565320"/>
            <a:ext cx="12191400" cy="292320"/>
          </a:xfrm>
          <a:prstGeom prst="rect">
            <a:avLst/>
          </a:prstGeom>
          <a:solidFill>
            <a:srgbClr val="1433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6" name="TextBox 5"/>
          <p:cNvSpPr/>
          <p:nvPr/>
        </p:nvSpPr>
        <p:spPr>
          <a:xfrm>
            <a:off x="411480" y="6602040"/>
            <a:ext cx="8412120" cy="219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100" spc="-1" strike="noStrike">
                <a:solidFill>
                  <a:srgbClr val="d5e4db"/>
                </a:solidFill>
                <a:latin typeface="Calibri"/>
                <a:ea typeface="Calibri"/>
              </a:rPr>
              <a:t>Nancy Verma  ·  Remote Sensing and GIS Using Python</a:t>
            </a:r>
            <a:endParaRPr b="0" lang="en-US" sz="1100" spc="-1" strike="noStrike">
              <a:solidFill>
                <a:srgbClr val="000000"/>
              </a:solidFill>
              <a:latin typeface="Arial"/>
            </a:endParaRPr>
          </a:p>
        </p:txBody>
      </p:sp>
      <p:sp>
        <p:nvSpPr>
          <p:cNvPr id="87" name="TextBox 6"/>
          <p:cNvSpPr/>
          <p:nvPr/>
        </p:nvSpPr>
        <p:spPr>
          <a:xfrm>
            <a:off x="10241280" y="6602040"/>
            <a:ext cx="1554120" cy="219240"/>
          </a:xfrm>
          <a:prstGeom prst="rect">
            <a:avLst/>
          </a:prstGeom>
          <a:noFill/>
          <a:ln w="0">
            <a:noFill/>
          </a:ln>
        </p:spPr>
        <p:style>
          <a:lnRef idx="0"/>
          <a:fillRef idx="0"/>
          <a:effectRef idx="0"/>
          <a:fontRef idx="minor"/>
        </p:style>
        <p:txBody>
          <a:bodyPr lIns="0" rIns="0" tIns="0" bIns="0" anchor="t">
            <a:noAutofit/>
          </a:bodyPr>
          <a:p>
            <a:pPr algn="r" defTabSz="457200">
              <a:lnSpc>
                <a:spcPct val="100000"/>
              </a:lnSpc>
            </a:pPr>
            <a:r>
              <a:rPr b="1" lang="en-US" sz="1100" spc="-1" strike="noStrike">
                <a:solidFill>
                  <a:srgbClr val="ffffff"/>
                </a:solidFill>
                <a:latin typeface="Calibri"/>
                <a:ea typeface="Calibri"/>
              </a:rPr>
              <a:t>2  /  8</a:t>
            </a:r>
            <a:endParaRPr b="0" lang="en-US" sz="1100" spc="-1" strike="noStrike">
              <a:solidFill>
                <a:srgbClr val="000000"/>
              </a:solidFill>
              <a:latin typeface="Arial"/>
            </a:endParaRPr>
          </a:p>
        </p:txBody>
      </p:sp>
      <p:sp>
        <p:nvSpPr>
          <p:cNvPr id="88" name="Rounded Rectangle 7"/>
          <p:cNvSpPr/>
          <p:nvPr/>
        </p:nvSpPr>
        <p:spPr>
          <a:xfrm>
            <a:off x="411480" y="1115640"/>
            <a:ext cx="5531760" cy="4160160"/>
          </a:xfrm>
          <a:prstGeom prst="roundRect">
            <a:avLst>
              <a:gd name="adj" fmla="val 8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 name="Rectangle 8"/>
          <p:cNvSpPr/>
          <p:nvPr/>
        </p:nvSpPr>
        <p:spPr>
          <a:xfrm>
            <a:off x="411480" y="1115640"/>
            <a:ext cx="5531760" cy="10944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0" name="TextBox 9"/>
          <p:cNvSpPr/>
          <p:nvPr/>
        </p:nvSpPr>
        <p:spPr>
          <a:xfrm>
            <a:off x="685800" y="1371600"/>
            <a:ext cx="502884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200" spc="-1" strike="noStrike">
                <a:solidFill>
                  <a:srgbClr val="1b5640"/>
                </a:solidFill>
                <a:latin typeface="Calibri"/>
                <a:ea typeface="Calibri"/>
              </a:rPr>
              <a:t>PROJECT 1</a:t>
            </a:r>
            <a:endParaRPr b="0" lang="en-US" sz="1200" spc="-1" strike="noStrike">
              <a:solidFill>
                <a:srgbClr val="000000"/>
              </a:solidFill>
              <a:latin typeface="Arial"/>
            </a:endParaRPr>
          </a:p>
        </p:txBody>
      </p:sp>
      <p:sp>
        <p:nvSpPr>
          <p:cNvPr id="91" name="TextBox 10"/>
          <p:cNvSpPr/>
          <p:nvPr/>
        </p:nvSpPr>
        <p:spPr>
          <a:xfrm>
            <a:off x="685800" y="1664280"/>
            <a:ext cx="5028840" cy="7768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400" spc="-1" strike="noStrike">
                <a:solidFill>
                  <a:srgbClr val="1c2430"/>
                </a:solidFill>
                <a:latin typeface="Calibri"/>
                <a:ea typeface="Calibri"/>
              </a:rPr>
              <a:t>Jalna District, Maharashtra</a:t>
            </a:r>
            <a:endParaRPr b="0" lang="en-US" sz="2400" spc="-1" strike="noStrike">
              <a:solidFill>
                <a:srgbClr val="000000"/>
              </a:solidFill>
              <a:latin typeface="Arial"/>
            </a:endParaRPr>
          </a:p>
        </p:txBody>
      </p:sp>
      <p:sp>
        <p:nvSpPr>
          <p:cNvPr id="92" name="TextBox 11"/>
          <p:cNvSpPr/>
          <p:nvPr/>
        </p:nvSpPr>
        <p:spPr>
          <a:xfrm>
            <a:off x="685800" y="2487240"/>
            <a:ext cx="5028840" cy="6397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600" spc="-1" strike="noStrike">
                <a:solidFill>
                  <a:srgbClr val="1c2430"/>
                </a:solidFill>
                <a:latin typeface="Calibri"/>
                <a:ea typeface="Calibri"/>
              </a:rPr>
              <a:t>Where was vegetation stressed in 2023, compared with 2015–2023?</a:t>
            </a:r>
            <a:endParaRPr b="0" lang="en-US" sz="1600" spc="-1" strike="noStrike">
              <a:solidFill>
                <a:srgbClr val="000000"/>
              </a:solidFill>
              <a:latin typeface="Arial"/>
            </a:endParaRPr>
          </a:p>
        </p:txBody>
      </p:sp>
      <p:sp>
        <p:nvSpPr>
          <p:cNvPr id="93" name="TextBox 12"/>
          <p:cNvSpPr/>
          <p:nvPr/>
        </p:nvSpPr>
        <p:spPr>
          <a:xfrm>
            <a:off x="685800" y="3246120"/>
            <a:ext cx="4937400" cy="1021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201"/>
              </a:spcAft>
            </a:pPr>
            <a:r>
              <a:rPr b="1" lang="en-US" sz="1600" spc="-1" strike="noStrike">
                <a:solidFill>
                  <a:srgbClr val="1c2430"/>
                </a:solidFill>
                <a:latin typeface="Calibri"/>
                <a:ea typeface="Calibri"/>
              </a:rPr>
              <a:t>MODIS MOD13Q1 Version 6.1</a:t>
            </a:r>
            <a:endParaRPr b="0" lang="en-US" sz="1600" spc="-1" strike="noStrike">
              <a:solidFill>
                <a:srgbClr val="000000"/>
              </a:solidFill>
              <a:latin typeface="Arial"/>
            </a:endParaRPr>
          </a:p>
          <a:p>
            <a:pPr defTabSz="457200">
              <a:lnSpc>
                <a:spcPct val="100000"/>
              </a:lnSpc>
              <a:spcAft>
                <a:spcPts val="201"/>
              </a:spcAft>
            </a:pPr>
            <a:r>
              <a:rPr b="0" lang="en-US" sz="1500" spc="-1" strike="noStrike">
                <a:solidFill>
                  <a:srgbClr val="5c656e"/>
                </a:solidFill>
                <a:latin typeface="Calibri"/>
                <a:ea typeface="Calibri"/>
              </a:rPr>
              <a:t>250 m NDVI, every 16 days</a:t>
            </a:r>
            <a:endParaRPr b="0" lang="en-US" sz="1500" spc="-1" strike="noStrike">
              <a:solidFill>
                <a:srgbClr val="000000"/>
              </a:solidFill>
              <a:latin typeface="Arial"/>
            </a:endParaRPr>
          </a:p>
          <a:p>
            <a:pPr defTabSz="457200">
              <a:lnSpc>
                <a:spcPct val="100000"/>
              </a:lnSpc>
              <a:spcAft>
                <a:spcPts val="201"/>
              </a:spcAft>
            </a:pPr>
            <a:r>
              <a:rPr b="1" lang="en-US" sz="1600" spc="-1" strike="noStrike">
                <a:solidFill>
                  <a:srgbClr val="1c2430"/>
                </a:solidFill>
                <a:latin typeface="Calibri"/>
                <a:ea typeface="Calibri"/>
              </a:rPr>
              <a:t>Vegetation Condition Index</a:t>
            </a:r>
            <a:endParaRPr b="0" lang="en-US" sz="1600" spc="-1" strike="noStrike">
              <a:solidFill>
                <a:srgbClr val="000000"/>
              </a:solidFill>
              <a:latin typeface="Arial"/>
            </a:endParaRPr>
          </a:p>
          <a:p>
            <a:pPr defTabSz="457200">
              <a:lnSpc>
                <a:spcPct val="100000"/>
              </a:lnSpc>
              <a:spcAft>
                <a:spcPts val="201"/>
              </a:spcAft>
            </a:pPr>
            <a:r>
              <a:rPr b="0" lang="en-US" sz="1500" spc="-1" strike="noStrike">
                <a:solidFill>
                  <a:srgbClr val="5c656e"/>
                </a:solidFill>
                <a:latin typeface="Calibri"/>
                <a:ea typeface="Calibri"/>
              </a:rPr>
              <a:t>Mean VCI for the district: 0.488</a:t>
            </a:r>
            <a:endParaRPr b="0" lang="en-US" sz="1500" spc="-1" strike="noStrike">
              <a:solidFill>
                <a:srgbClr val="000000"/>
              </a:solidFill>
              <a:latin typeface="Arial"/>
            </a:endParaRPr>
          </a:p>
        </p:txBody>
      </p:sp>
      <p:sp>
        <p:nvSpPr>
          <p:cNvPr id="94" name="Rounded Rectangle 13"/>
          <p:cNvSpPr/>
          <p:nvPr/>
        </p:nvSpPr>
        <p:spPr>
          <a:xfrm>
            <a:off x="6217920" y="1115640"/>
            <a:ext cx="5531760" cy="4160160"/>
          </a:xfrm>
          <a:prstGeom prst="roundRect">
            <a:avLst>
              <a:gd name="adj" fmla="val 8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5" name="Rectangle 14"/>
          <p:cNvSpPr/>
          <p:nvPr/>
        </p:nvSpPr>
        <p:spPr>
          <a:xfrm>
            <a:off x="6217920" y="1115640"/>
            <a:ext cx="5531760" cy="109440"/>
          </a:xfrm>
          <a:prstGeom prst="rect">
            <a:avLst/>
          </a:prstGeom>
          <a:solidFill>
            <a:srgbClr val="b03e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6" name="TextBox 15"/>
          <p:cNvSpPr/>
          <p:nvPr/>
        </p:nvSpPr>
        <p:spPr>
          <a:xfrm>
            <a:off x="6492240" y="1371600"/>
            <a:ext cx="502884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200" spc="-1" strike="noStrike">
                <a:solidFill>
                  <a:srgbClr val="b03e2c"/>
                </a:solidFill>
                <a:latin typeface="Calibri"/>
                <a:ea typeface="Calibri"/>
              </a:rPr>
              <a:t>PROJECT 2</a:t>
            </a:r>
            <a:endParaRPr b="0" lang="en-US" sz="1200" spc="-1" strike="noStrike">
              <a:solidFill>
                <a:srgbClr val="000000"/>
              </a:solidFill>
              <a:latin typeface="Arial"/>
            </a:endParaRPr>
          </a:p>
        </p:txBody>
      </p:sp>
      <p:sp>
        <p:nvSpPr>
          <p:cNvPr id="97" name="TextBox 16"/>
          <p:cNvSpPr/>
          <p:nvPr/>
        </p:nvSpPr>
        <p:spPr>
          <a:xfrm>
            <a:off x="6492240" y="1664280"/>
            <a:ext cx="5028840" cy="7768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400" spc="-1" strike="noStrike">
                <a:solidFill>
                  <a:srgbClr val="1c2430"/>
                </a:solidFill>
                <a:latin typeface="Calibri"/>
                <a:ea typeface="Calibri"/>
              </a:rPr>
              <a:t>National Capital Territory of Delhi</a:t>
            </a:r>
            <a:endParaRPr b="0" lang="en-US" sz="2400" spc="-1" strike="noStrike">
              <a:solidFill>
                <a:srgbClr val="000000"/>
              </a:solidFill>
              <a:latin typeface="Arial"/>
            </a:endParaRPr>
          </a:p>
        </p:txBody>
      </p:sp>
      <p:sp>
        <p:nvSpPr>
          <p:cNvPr id="98" name="TextBox 17"/>
          <p:cNvSpPr/>
          <p:nvPr/>
        </p:nvSpPr>
        <p:spPr>
          <a:xfrm>
            <a:off x="6492240" y="2487240"/>
            <a:ext cx="5028840" cy="6397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600" spc="-1" strike="noStrike">
                <a:solidFill>
                  <a:srgbClr val="1c2430"/>
                </a:solidFill>
                <a:latin typeface="Calibri"/>
                <a:ea typeface="Calibri"/>
              </a:rPr>
              <a:t>Where was the land surface hottest in April–June 2024?</a:t>
            </a:r>
            <a:endParaRPr b="0" lang="en-US" sz="1600" spc="-1" strike="noStrike">
              <a:solidFill>
                <a:srgbClr val="000000"/>
              </a:solidFill>
              <a:latin typeface="Arial"/>
            </a:endParaRPr>
          </a:p>
        </p:txBody>
      </p:sp>
      <p:sp>
        <p:nvSpPr>
          <p:cNvPr id="99" name="TextBox 18"/>
          <p:cNvSpPr/>
          <p:nvPr/>
        </p:nvSpPr>
        <p:spPr>
          <a:xfrm>
            <a:off x="6492240" y="3246120"/>
            <a:ext cx="4937400" cy="1021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201"/>
              </a:spcAft>
            </a:pPr>
            <a:r>
              <a:rPr b="1" lang="en-US" sz="1600" spc="-1" strike="noStrike">
                <a:solidFill>
                  <a:srgbClr val="1c2430"/>
                </a:solidFill>
                <a:latin typeface="Calibri"/>
                <a:ea typeface="Calibri"/>
              </a:rPr>
              <a:t>Landsat-8 Collection 2 Level-2</a:t>
            </a:r>
            <a:endParaRPr b="0" lang="en-US" sz="1600" spc="-1" strike="noStrike">
              <a:solidFill>
                <a:srgbClr val="000000"/>
              </a:solidFill>
              <a:latin typeface="Arial"/>
            </a:endParaRPr>
          </a:p>
          <a:p>
            <a:pPr defTabSz="457200">
              <a:lnSpc>
                <a:spcPct val="100000"/>
              </a:lnSpc>
              <a:spcAft>
                <a:spcPts val="201"/>
              </a:spcAft>
            </a:pPr>
            <a:r>
              <a:rPr b="0" lang="en-US" sz="1500" spc="-1" strike="noStrike">
                <a:solidFill>
                  <a:srgbClr val="5c656e"/>
                </a:solidFill>
                <a:latin typeface="Calibri"/>
                <a:ea typeface="Calibri"/>
              </a:rPr>
              <a:t>30 m, cloud cover below 10%</a:t>
            </a:r>
            <a:endParaRPr b="0" lang="en-US" sz="1500" spc="-1" strike="noStrike">
              <a:solidFill>
                <a:srgbClr val="000000"/>
              </a:solidFill>
              <a:latin typeface="Arial"/>
            </a:endParaRPr>
          </a:p>
          <a:p>
            <a:pPr defTabSz="457200">
              <a:lnSpc>
                <a:spcPct val="100000"/>
              </a:lnSpc>
              <a:spcAft>
                <a:spcPts val="201"/>
              </a:spcAft>
            </a:pPr>
            <a:r>
              <a:rPr b="1" lang="en-US" sz="1600" spc="-1" strike="noStrike">
                <a:solidFill>
                  <a:srgbClr val="1c2430"/>
                </a:solidFill>
                <a:latin typeface="Calibri"/>
                <a:ea typeface="Calibri"/>
              </a:rPr>
              <a:t>NDVI, NDBI and surface temperature</a:t>
            </a:r>
            <a:endParaRPr b="0" lang="en-US" sz="1600" spc="-1" strike="noStrike">
              <a:solidFill>
                <a:srgbClr val="000000"/>
              </a:solidFill>
              <a:latin typeface="Arial"/>
            </a:endParaRPr>
          </a:p>
          <a:p>
            <a:pPr defTabSz="457200">
              <a:lnSpc>
                <a:spcPct val="100000"/>
              </a:lnSpc>
              <a:spcAft>
                <a:spcPts val="201"/>
              </a:spcAft>
            </a:pPr>
            <a:r>
              <a:rPr b="0" lang="en-US" sz="1500" spc="-1" strike="noStrike">
                <a:solidFill>
                  <a:srgbClr val="5c656e"/>
                </a:solidFill>
                <a:latin typeface="Calibri"/>
                <a:ea typeface="Calibri"/>
              </a:rPr>
              <a:t>Mean land surface temperature: 46.66°C</a:t>
            </a:r>
            <a:endParaRPr b="0" lang="en-US" sz="1500" spc="-1" strike="noStrike">
              <a:solidFill>
                <a:srgbClr val="000000"/>
              </a:solidFill>
              <a:latin typeface="Arial"/>
            </a:endParaRPr>
          </a:p>
        </p:txBody>
      </p:sp>
      <p:sp>
        <p:nvSpPr>
          <p:cNvPr id="100" name="Rounded Rectangle 19"/>
          <p:cNvSpPr/>
          <p:nvPr/>
        </p:nvSpPr>
        <p:spPr>
          <a:xfrm>
            <a:off x="411480" y="5440680"/>
            <a:ext cx="11338200" cy="868320"/>
          </a:xfrm>
          <a:prstGeom prst="roundRect">
            <a:avLst>
              <a:gd name="adj" fmla="val 8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 name="TextBox 20"/>
          <p:cNvSpPr/>
          <p:nvPr/>
        </p:nvSpPr>
        <p:spPr>
          <a:xfrm>
            <a:off x="640080" y="5559480"/>
            <a:ext cx="10881000" cy="2556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400" spc="-1" strike="noStrike">
                <a:solidFill>
                  <a:srgbClr val="8f6e32"/>
                </a:solidFill>
                <a:latin typeface="Calibri"/>
                <a:ea typeface="Calibri"/>
              </a:rPr>
              <a:t>Same path for both projects</a:t>
            </a:r>
            <a:endParaRPr b="0" lang="en-US" sz="1400" spc="-1" strike="noStrike">
              <a:solidFill>
                <a:srgbClr val="000000"/>
              </a:solidFill>
              <a:latin typeface="Arial"/>
            </a:endParaRPr>
          </a:p>
        </p:txBody>
      </p:sp>
      <p:sp>
        <p:nvSpPr>
          <p:cNvPr id="102" name="TextBox 21"/>
          <p:cNvSpPr/>
          <p:nvPr/>
        </p:nvSpPr>
        <p:spPr>
          <a:xfrm>
            <a:off x="640080" y="5833800"/>
            <a:ext cx="10881000" cy="3470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500" spc="-1" strike="noStrike">
                <a:solidFill>
                  <a:srgbClr val="1c2430"/>
                </a:solidFill>
                <a:latin typeface="Calibri"/>
                <a:ea typeface="Calibri"/>
              </a:rPr>
              <a:t>Administrative boundary  →  process the satellite record in Google Earth Engine  →  map layout in QGIS 3.40</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3ec"/>
        </a:solidFill>
      </p:bgPr>
    </p:bg>
    <p:spTree>
      <p:nvGrpSpPr>
        <p:cNvPr id="1" name=""/>
        <p:cNvGrpSpPr/>
        <p:nvPr/>
      </p:nvGrpSpPr>
      <p:grpSpPr>
        <a:xfrm>
          <a:off x="0" y="0"/>
          <a:ext cx="0" cy="0"/>
          <a:chOff x="0" y="0"/>
          <a:chExt cx="0" cy="0"/>
        </a:xfrm>
      </p:grpSpPr>
      <p:sp>
        <p:nvSpPr>
          <p:cNvPr id="103" name="Rectangle 1"/>
          <p:cNvSpPr/>
          <p:nvPr/>
        </p:nvSpPr>
        <p:spPr>
          <a:xfrm>
            <a:off x="0" y="0"/>
            <a:ext cx="12191400" cy="7272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04" name="TextBox 2"/>
          <p:cNvSpPr/>
          <p:nvPr/>
        </p:nvSpPr>
        <p:spPr>
          <a:xfrm>
            <a:off x="438840" y="201240"/>
            <a:ext cx="1124676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200" spc="-1" strike="noStrike">
                <a:solidFill>
                  <a:srgbClr val="8f6e32"/>
                </a:solidFill>
                <a:latin typeface="Calibri"/>
                <a:ea typeface="Calibri"/>
              </a:rPr>
              <a:t>PROJECT 1  ·  JALNA</a:t>
            </a:r>
            <a:endParaRPr b="0" lang="en-US" sz="1200" spc="-1" strike="noStrike">
              <a:solidFill>
                <a:srgbClr val="000000"/>
              </a:solidFill>
              <a:latin typeface="Arial"/>
            </a:endParaRPr>
          </a:p>
        </p:txBody>
      </p:sp>
      <p:sp>
        <p:nvSpPr>
          <p:cNvPr id="105" name="TextBox 3"/>
          <p:cNvSpPr/>
          <p:nvPr/>
        </p:nvSpPr>
        <p:spPr>
          <a:xfrm>
            <a:off x="438840" y="420480"/>
            <a:ext cx="11246760" cy="4384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800" spc="-1" strike="noStrike">
                <a:solidFill>
                  <a:srgbClr val="1c2430"/>
                </a:solidFill>
                <a:latin typeface="Calibri"/>
                <a:ea typeface="Calibri"/>
              </a:rPr>
              <a:t>How the drought map was made</a:t>
            </a:r>
            <a:endParaRPr b="0" lang="en-US" sz="2800" spc="-1" strike="noStrike">
              <a:solidFill>
                <a:srgbClr val="000000"/>
              </a:solidFill>
              <a:latin typeface="Arial"/>
            </a:endParaRPr>
          </a:p>
        </p:txBody>
      </p:sp>
      <p:sp>
        <p:nvSpPr>
          <p:cNvPr id="106" name="Rectangle 4"/>
          <p:cNvSpPr/>
          <p:nvPr/>
        </p:nvSpPr>
        <p:spPr>
          <a:xfrm>
            <a:off x="0" y="6565320"/>
            <a:ext cx="12191400" cy="292320"/>
          </a:xfrm>
          <a:prstGeom prst="rect">
            <a:avLst/>
          </a:prstGeom>
          <a:solidFill>
            <a:srgbClr val="1433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7" name="TextBox 5"/>
          <p:cNvSpPr/>
          <p:nvPr/>
        </p:nvSpPr>
        <p:spPr>
          <a:xfrm>
            <a:off x="411480" y="6602040"/>
            <a:ext cx="8412120" cy="219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100" spc="-1" strike="noStrike">
                <a:solidFill>
                  <a:srgbClr val="d5e4db"/>
                </a:solidFill>
                <a:latin typeface="Calibri"/>
                <a:ea typeface="Calibri"/>
              </a:rPr>
              <a:t>Nancy Verma  ·  Remote Sensing and GIS Using Python</a:t>
            </a:r>
            <a:endParaRPr b="0" lang="en-US" sz="1100" spc="-1" strike="noStrike">
              <a:solidFill>
                <a:srgbClr val="000000"/>
              </a:solidFill>
              <a:latin typeface="Arial"/>
            </a:endParaRPr>
          </a:p>
        </p:txBody>
      </p:sp>
      <p:sp>
        <p:nvSpPr>
          <p:cNvPr id="108" name="TextBox 6"/>
          <p:cNvSpPr/>
          <p:nvPr/>
        </p:nvSpPr>
        <p:spPr>
          <a:xfrm>
            <a:off x="10241280" y="6602040"/>
            <a:ext cx="1554120" cy="219240"/>
          </a:xfrm>
          <a:prstGeom prst="rect">
            <a:avLst/>
          </a:prstGeom>
          <a:noFill/>
          <a:ln w="0">
            <a:noFill/>
          </a:ln>
        </p:spPr>
        <p:style>
          <a:lnRef idx="0"/>
          <a:fillRef idx="0"/>
          <a:effectRef idx="0"/>
          <a:fontRef idx="minor"/>
        </p:style>
        <p:txBody>
          <a:bodyPr lIns="0" rIns="0" tIns="0" bIns="0" anchor="t">
            <a:noAutofit/>
          </a:bodyPr>
          <a:p>
            <a:pPr algn="r" defTabSz="457200">
              <a:lnSpc>
                <a:spcPct val="100000"/>
              </a:lnSpc>
            </a:pPr>
            <a:r>
              <a:rPr b="1" lang="en-US" sz="1100" spc="-1" strike="noStrike">
                <a:solidFill>
                  <a:srgbClr val="ffffff"/>
                </a:solidFill>
                <a:latin typeface="Calibri"/>
                <a:ea typeface="Calibri"/>
              </a:rPr>
              <a:t>3  /  8</a:t>
            </a:r>
            <a:endParaRPr b="0" lang="en-US" sz="1100" spc="-1" strike="noStrike">
              <a:solidFill>
                <a:srgbClr val="000000"/>
              </a:solidFill>
              <a:latin typeface="Arial"/>
            </a:endParaRPr>
          </a:p>
        </p:txBody>
      </p:sp>
      <p:sp>
        <p:nvSpPr>
          <p:cNvPr id="109" name="Rounded Rectangle 7"/>
          <p:cNvSpPr/>
          <p:nvPr/>
        </p:nvSpPr>
        <p:spPr>
          <a:xfrm>
            <a:off x="438840" y="1115640"/>
            <a:ext cx="11292480" cy="1170000"/>
          </a:xfrm>
          <a:prstGeom prst="roundRect">
            <a:avLst>
              <a:gd name="adj" fmla="val 6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0" name="Rectangle 8"/>
          <p:cNvSpPr/>
          <p:nvPr/>
        </p:nvSpPr>
        <p:spPr>
          <a:xfrm>
            <a:off x="438840" y="1115640"/>
            <a:ext cx="658080" cy="117000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1" name="TextBox 9"/>
          <p:cNvSpPr/>
          <p:nvPr/>
        </p:nvSpPr>
        <p:spPr>
          <a:xfrm>
            <a:off x="438840" y="1463040"/>
            <a:ext cx="658080" cy="456840"/>
          </a:xfrm>
          <a:prstGeom prst="rect">
            <a:avLst/>
          </a:prstGeom>
          <a:noFill/>
          <a:ln w="0">
            <a:noFill/>
          </a:ln>
        </p:spPr>
        <p:style>
          <a:lnRef idx="0"/>
          <a:fillRef idx="0"/>
          <a:effectRef idx="0"/>
          <a:fontRef idx="minor"/>
        </p:style>
        <p:txBody>
          <a:bodyPr lIns="0" rIns="0" tIns="0" bIns="0" anchor="t">
            <a:noAutofit/>
          </a:bodyPr>
          <a:p>
            <a:pPr algn="ctr" defTabSz="457200">
              <a:lnSpc>
                <a:spcPct val="100000"/>
              </a:lnSpc>
            </a:pPr>
            <a:r>
              <a:rPr b="1" lang="en-US" sz="2200" spc="-1" strike="noStrike">
                <a:solidFill>
                  <a:srgbClr val="ffffff"/>
                </a:solidFill>
                <a:latin typeface="Calibri"/>
                <a:ea typeface="Calibri"/>
              </a:rPr>
              <a:t>1</a:t>
            </a:r>
            <a:endParaRPr b="0" lang="en-US" sz="2200" spc="-1" strike="noStrike">
              <a:solidFill>
                <a:srgbClr val="000000"/>
              </a:solidFill>
              <a:latin typeface="Arial"/>
            </a:endParaRPr>
          </a:p>
        </p:txBody>
      </p:sp>
      <p:sp>
        <p:nvSpPr>
          <p:cNvPr id="112" name="TextBox 10"/>
          <p:cNvSpPr/>
          <p:nvPr/>
        </p:nvSpPr>
        <p:spPr>
          <a:xfrm>
            <a:off x="1325880" y="1243440"/>
            <a:ext cx="1014948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800" spc="-1" strike="noStrike">
                <a:solidFill>
                  <a:srgbClr val="1c2430"/>
                </a:solidFill>
                <a:latin typeface="Calibri"/>
                <a:ea typeface="Calibri"/>
              </a:rPr>
              <a:t>Satellite record</a:t>
            </a:r>
            <a:endParaRPr b="0" lang="en-US" sz="1800" spc="-1" strike="noStrike">
              <a:solidFill>
                <a:srgbClr val="000000"/>
              </a:solidFill>
              <a:latin typeface="Arial"/>
            </a:endParaRPr>
          </a:p>
        </p:txBody>
      </p:sp>
      <p:sp>
        <p:nvSpPr>
          <p:cNvPr id="113" name="TextBox 11"/>
          <p:cNvSpPr/>
          <p:nvPr/>
        </p:nvSpPr>
        <p:spPr>
          <a:xfrm>
            <a:off x="1325880" y="1609200"/>
            <a:ext cx="10149480" cy="5666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500" spc="-1" strike="noStrike">
                <a:solidFill>
                  <a:srgbClr val="5c656e"/>
                </a:solidFill>
                <a:latin typeface="Calibri"/>
                <a:ea typeface="Calibri"/>
              </a:rPr>
              <a:t>MODIS MOD13Q1 Version 6.1. NDVI at 250 m, 16-day composites, from 2015 to 2023. Values were scaled by 0.0001.</a:t>
            </a:r>
            <a:endParaRPr b="0" lang="en-US" sz="1500" spc="-1" strike="noStrike">
              <a:solidFill>
                <a:srgbClr val="000000"/>
              </a:solidFill>
              <a:latin typeface="Arial"/>
            </a:endParaRPr>
          </a:p>
        </p:txBody>
      </p:sp>
      <p:sp>
        <p:nvSpPr>
          <p:cNvPr id="114" name="Rounded Rectangle 12"/>
          <p:cNvSpPr/>
          <p:nvPr/>
        </p:nvSpPr>
        <p:spPr>
          <a:xfrm>
            <a:off x="438840" y="2414160"/>
            <a:ext cx="11292480" cy="1170000"/>
          </a:xfrm>
          <a:prstGeom prst="roundRect">
            <a:avLst>
              <a:gd name="adj" fmla="val 6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5" name="Rectangle 13"/>
          <p:cNvSpPr/>
          <p:nvPr/>
        </p:nvSpPr>
        <p:spPr>
          <a:xfrm>
            <a:off x="438840" y="2414160"/>
            <a:ext cx="658080" cy="117000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6" name="TextBox 14"/>
          <p:cNvSpPr/>
          <p:nvPr/>
        </p:nvSpPr>
        <p:spPr>
          <a:xfrm>
            <a:off x="438840" y="2761560"/>
            <a:ext cx="658080" cy="456840"/>
          </a:xfrm>
          <a:prstGeom prst="rect">
            <a:avLst/>
          </a:prstGeom>
          <a:noFill/>
          <a:ln w="0">
            <a:noFill/>
          </a:ln>
        </p:spPr>
        <p:style>
          <a:lnRef idx="0"/>
          <a:fillRef idx="0"/>
          <a:effectRef idx="0"/>
          <a:fontRef idx="minor"/>
        </p:style>
        <p:txBody>
          <a:bodyPr lIns="0" rIns="0" tIns="0" bIns="0" anchor="t">
            <a:noAutofit/>
          </a:bodyPr>
          <a:p>
            <a:pPr algn="ctr" defTabSz="457200">
              <a:lnSpc>
                <a:spcPct val="100000"/>
              </a:lnSpc>
            </a:pPr>
            <a:r>
              <a:rPr b="1" lang="en-US" sz="2200" spc="-1" strike="noStrike">
                <a:solidFill>
                  <a:srgbClr val="ffffff"/>
                </a:solidFill>
                <a:latin typeface="Calibri"/>
                <a:ea typeface="Calibri"/>
              </a:rPr>
              <a:t>2</a:t>
            </a:r>
            <a:endParaRPr b="0" lang="en-US" sz="2200" spc="-1" strike="noStrike">
              <a:solidFill>
                <a:srgbClr val="000000"/>
              </a:solidFill>
              <a:latin typeface="Arial"/>
            </a:endParaRPr>
          </a:p>
        </p:txBody>
      </p:sp>
      <p:sp>
        <p:nvSpPr>
          <p:cNvPr id="117" name="TextBox 15"/>
          <p:cNvSpPr/>
          <p:nvPr/>
        </p:nvSpPr>
        <p:spPr>
          <a:xfrm>
            <a:off x="1325880" y="2541960"/>
            <a:ext cx="1014948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800" spc="-1" strike="noStrike">
                <a:solidFill>
                  <a:srgbClr val="1c2430"/>
                </a:solidFill>
                <a:latin typeface="Calibri"/>
                <a:ea typeface="Calibri"/>
              </a:rPr>
              <a:t>Vegetation Condition Index</a:t>
            </a:r>
            <a:endParaRPr b="0" lang="en-US" sz="1800" spc="-1" strike="noStrike">
              <a:solidFill>
                <a:srgbClr val="000000"/>
              </a:solidFill>
              <a:latin typeface="Arial"/>
            </a:endParaRPr>
          </a:p>
        </p:txBody>
      </p:sp>
      <p:sp>
        <p:nvSpPr>
          <p:cNvPr id="118" name="TextBox 16"/>
          <p:cNvSpPr/>
          <p:nvPr/>
        </p:nvSpPr>
        <p:spPr>
          <a:xfrm>
            <a:off x="1325880" y="2907720"/>
            <a:ext cx="10149480" cy="5666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500" spc="-1" strike="noStrike">
                <a:solidFill>
                  <a:srgbClr val="5c656e"/>
                </a:solidFill>
                <a:latin typeface="Calibri"/>
                <a:ea typeface="Calibri"/>
              </a:rPr>
              <a:t>VCI  =  (NDVI 2023  −  NDVI minimum)  /  (NDVI maximum  −  NDVI minimum). The 2023 value is the yearly mean.</a:t>
            </a:r>
            <a:endParaRPr b="0" lang="en-US" sz="1500" spc="-1" strike="noStrike">
              <a:solidFill>
                <a:srgbClr val="000000"/>
              </a:solidFill>
              <a:latin typeface="Arial"/>
            </a:endParaRPr>
          </a:p>
        </p:txBody>
      </p:sp>
      <p:sp>
        <p:nvSpPr>
          <p:cNvPr id="119" name="Rounded Rectangle 17"/>
          <p:cNvSpPr/>
          <p:nvPr/>
        </p:nvSpPr>
        <p:spPr>
          <a:xfrm>
            <a:off x="438840" y="3712320"/>
            <a:ext cx="11292480" cy="1170000"/>
          </a:xfrm>
          <a:prstGeom prst="roundRect">
            <a:avLst>
              <a:gd name="adj" fmla="val 6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0" name="Rectangle 18"/>
          <p:cNvSpPr/>
          <p:nvPr/>
        </p:nvSpPr>
        <p:spPr>
          <a:xfrm>
            <a:off x="438840" y="3712320"/>
            <a:ext cx="658080" cy="117000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1" name="TextBox 19"/>
          <p:cNvSpPr/>
          <p:nvPr/>
        </p:nvSpPr>
        <p:spPr>
          <a:xfrm>
            <a:off x="438840" y="4060080"/>
            <a:ext cx="658080" cy="456840"/>
          </a:xfrm>
          <a:prstGeom prst="rect">
            <a:avLst/>
          </a:prstGeom>
          <a:noFill/>
          <a:ln w="0">
            <a:noFill/>
          </a:ln>
        </p:spPr>
        <p:style>
          <a:lnRef idx="0"/>
          <a:fillRef idx="0"/>
          <a:effectRef idx="0"/>
          <a:fontRef idx="minor"/>
        </p:style>
        <p:txBody>
          <a:bodyPr lIns="0" rIns="0" tIns="0" bIns="0" anchor="t">
            <a:noAutofit/>
          </a:bodyPr>
          <a:p>
            <a:pPr algn="ctr" defTabSz="457200">
              <a:lnSpc>
                <a:spcPct val="100000"/>
              </a:lnSpc>
            </a:pPr>
            <a:r>
              <a:rPr b="1" lang="en-US" sz="2200" spc="-1" strike="noStrike">
                <a:solidFill>
                  <a:srgbClr val="ffffff"/>
                </a:solidFill>
                <a:latin typeface="Calibri"/>
                <a:ea typeface="Calibri"/>
              </a:rPr>
              <a:t>3</a:t>
            </a:r>
            <a:endParaRPr b="0" lang="en-US" sz="2200" spc="-1" strike="noStrike">
              <a:solidFill>
                <a:srgbClr val="000000"/>
              </a:solidFill>
              <a:latin typeface="Arial"/>
            </a:endParaRPr>
          </a:p>
        </p:txBody>
      </p:sp>
      <p:sp>
        <p:nvSpPr>
          <p:cNvPr id="122" name="TextBox 20"/>
          <p:cNvSpPr/>
          <p:nvPr/>
        </p:nvSpPr>
        <p:spPr>
          <a:xfrm>
            <a:off x="1325880" y="3840480"/>
            <a:ext cx="1014948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800" spc="-1" strike="noStrike">
                <a:solidFill>
                  <a:srgbClr val="1c2430"/>
                </a:solidFill>
                <a:latin typeface="Calibri"/>
                <a:ea typeface="Calibri"/>
              </a:rPr>
              <a:t>Four classes, then area</a:t>
            </a:r>
            <a:endParaRPr b="0" lang="en-US" sz="1800" spc="-1" strike="noStrike">
              <a:solidFill>
                <a:srgbClr val="000000"/>
              </a:solidFill>
              <a:latin typeface="Arial"/>
            </a:endParaRPr>
          </a:p>
        </p:txBody>
      </p:sp>
      <p:sp>
        <p:nvSpPr>
          <p:cNvPr id="123" name="TextBox 21"/>
          <p:cNvSpPr/>
          <p:nvPr/>
        </p:nvSpPr>
        <p:spPr>
          <a:xfrm>
            <a:off x="1325880" y="4206240"/>
            <a:ext cx="10149480" cy="5666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500" spc="-1" strike="noStrike">
                <a:solidFill>
                  <a:srgbClr val="5c656e"/>
                </a:solidFill>
                <a:latin typeface="Calibri"/>
                <a:ea typeface="Calibri"/>
              </a:rPr>
              <a:t>Each pixel was classed, clipped to the FAO GAUL boundary, and counted in Google Earth Engine. Layouts were made in QGIS 3.40.</a:t>
            </a:r>
            <a:endParaRPr b="0" lang="en-US" sz="1500" spc="-1" strike="noStrike">
              <a:solidFill>
                <a:srgbClr val="000000"/>
              </a:solidFill>
              <a:latin typeface="Arial"/>
            </a:endParaRPr>
          </a:p>
        </p:txBody>
      </p:sp>
      <p:sp>
        <p:nvSpPr>
          <p:cNvPr id="124" name="TextBox 22"/>
          <p:cNvSpPr/>
          <p:nvPr/>
        </p:nvSpPr>
        <p:spPr>
          <a:xfrm>
            <a:off x="457200" y="5074920"/>
            <a:ext cx="11246760" cy="3654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500" spc="-1" strike="noStrike">
                <a:solidFill>
                  <a:srgbClr val="1c2430"/>
                </a:solidFill>
                <a:latin typeface="Calibri"/>
                <a:ea typeface="Calibri"/>
              </a:rPr>
              <a:t>Class breaks:   0.00–0.20 extreme    ·    0.20–0.40 moderate    ·    0.40–0.60 mild    ·    0.60–1.00 healthy</a:t>
            </a:r>
            <a:endParaRPr b="0" lang="en-US" sz="1500" spc="-1" strike="noStrike">
              <a:solidFill>
                <a:srgbClr val="000000"/>
              </a:solidFill>
              <a:latin typeface="Arial"/>
            </a:endParaRPr>
          </a:p>
        </p:txBody>
      </p:sp>
      <p:sp>
        <p:nvSpPr>
          <p:cNvPr id="125" name="TextBox 23"/>
          <p:cNvSpPr/>
          <p:nvPr/>
        </p:nvSpPr>
        <p:spPr>
          <a:xfrm>
            <a:off x="457200" y="5532120"/>
            <a:ext cx="11246760" cy="3654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600" spc="-1" strike="noStrike">
                <a:solidFill>
                  <a:srgbClr val="1b5640"/>
                </a:solidFill>
                <a:latin typeface="Calibri"/>
                <a:ea typeface="Calibri"/>
              </a:rPr>
              <a:t>A district mean of 0.488 falls in the mild class.</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3ec"/>
        </a:solidFill>
      </p:bgPr>
    </p:bg>
    <p:spTree>
      <p:nvGrpSpPr>
        <p:cNvPr id="1" name=""/>
        <p:cNvGrpSpPr/>
        <p:nvPr/>
      </p:nvGrpSpPr>
      <p:grpSpPr>
        <a:xfrm>
          <a:off x="0" y="0"/>
          <a:ext cx="0" cy="0"/>
          <a:chOff x="0" y="0"/>
          <a:chExt cx="0" cy="0"/>
        </a:xfrm>
      </p:grpSpPr>
      <p:sp>
        <p:nvSpPr>
          <p:cNvPr id="126" name="Rectangle 1"/>
          <p:cNvSpPr/>
          <p:nvPr/>
        </p:nvSpPr>
        <p:spPr>
          <a:xfrm>
            <a:off x="0" y="0"/>
            <a:ext cx="12191400" cy="7272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27" name="TextBox 2"/>
          <p:cNvSpPr/>
          <p:nvPr/>
        </p:nvSpPr>
        <p:spPr>
          <a:xfrm>
            <a:off x="438840" y="201240"/>
            <a:ext cx="1124676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200" spc="-1" strike="noStrike">
                <a:solidFill>
                  <a:srgbClr val="8f6e32"/>
                </a:solidFill>
                <a:latin typeface="Calibri"/>
                <a:ea typeface="Calibri"/>
              </a:rPr>
              <a:t>PROJECT 1  ·  RESULT</a:t>
            </a:r>
            <a:endParaRPr b="0" lang="en-US" sz="1200" spc="-1" strike="noStrike">
              <a:solidFill>
                <a:srgbClr val="000000"/>
              </a:solidFill>
              <a:latin typeface="Arial"/>
            </a:endParaRPr>
          </a:p>
        </p:txBody>
      </p:sp>
      <p:sp>
        <p:nvSpPr>
          <p:cNvPr id="128" name="TextBox 3"/>
          <p:cNvSpPr/>
          <p:nvPr/>
        </p:nvSpPr>
        <p:spPr>
          <a:xfrm>
            <a:off x="438840" y="420480"/>
            <a:ext cx="11246760" cy="4384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800" spc="-1" strike="noStrike">
                <a:solidFill>
                  <a:srgbClr val="1c2430"/>
                </a:solidFill>
                <a:latin typeface="Calibri"/>
                <a:ea typeface="Calibri"/>
              </a:rPr>
              <a:t>Most of Jalna was in mild drought</a:t>
            </a:r>
            <a:endParaRPr b="0" lang="en-US" sz="2800" spc="-1" strike="noStrike">
              <a:solidFill>
                <a:srgbClr val="000000"/>
              </a:solidFill>
              <a:latin typeface="Arial"/>
            </a:endParaRPr>
          </a:p>
        </p:txBody>
      </p:sp>
      <p:sp>
        <p:nvSpPr>
          <p:cNvPr id="129" name="Rectangle 4"/>
          <p:cNvSpPr/>
          <p:nvPr/>
        </p:nvSpPr>
        <p:spPr>
          <a:xfrm>
            <a:off x="0" y="6565320"/>
            <a:ext cx="12191400" cy="292320"/>
          </a:xfrm>
          <a:prstGeom prst="rect">
            <a:avLst/>
          </a:prstGeom>
          <a:solidFill>
            <a:srgbClr val="1433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0" name="TextBox 5"/>
          <p:cNvSpPr/>
          <p:nvPr/>
        </p:nvSpPr>
        <p:spPr>
          <a:xfrm>
            <a:off x="411480" y="6602040"/>
            <a:ext cx="8412120" cy="219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100" spc="-1" strike="noStrike">
                <a:solidFill>
                  <a:srgbClr val="d5e4db"/>
                </a:solidFill>
                <a:latin typeface="Calibri"/>
                <a:ea typeface="Calibri"/>
              </a:rPr>
              <a:t>Nancy Verma  ·  Remote Sensing and GIS Using Python</a:t>
            </a:r>
            <a:endParaRPr b="0" lang="en-US" sz="1100" spc="-1" strike="noStrike">
              <a:solidFill>
                <a:srgbClr val="000000"/>
              </a:solidFill>
              <a:latin typeface="Arial"/>
            </a:endParaRPr>
          </a:p>
        </p:txBody>
      </p:sp>
      <p:sp>
        <p:nvSpPr>
          <p:cNvPr id="131" name="TextBox 6"/>
          <p:cNvSpPr/>
          <p:nvPr/>
        </p:nvSpPr>
        <p:spPr>
          <a:xfrm>
            <a:off x="10241280" y="6602040"/>
            <a:ext cx="1554120" cy="219240"/>
          </a:xfrm>
          <a:prstGeom prst="rect">
            <a:avLst/>
          </a:prstGeom>
          <a:noFill/>
          <a:ln w="0">
            <a:noFill/>
          </a:ln>
        </p:spPr>
        <p:style>
          <a:lnRef idx="0"/>
          <a:fillRef idx="0"/>
          <a:effectRef idx="0"/>
          <a:fontRef idx="minor"/>
        </p:style>
        <p:txBody>
          <a:bodyPr lIns="0" rIns="0" tIns="0" bIns="0" anchor="t">
            <a:noAutofit/>
          </a:bodyPr>
          <a:p>
            <a:pPr algn="r" defTabSz="457200">
              <a:lnSpc>
                <a:spcPct val="100000"/>
              </a:lnSpc>
            </a:pPr>
            <a:r>
              <a:rPr b="1" lang="en-US" sz="1100" spc="-1" strike="noStrike">
                <a:solidFill>
                  <a:srgbClr val="ffffff"/>
                </a:solidFill>
                <a:latin typeface="Calibri"/>
                <a:ea typeface="Calibri"/>
              </a:rPr>
              <a:t>4  /  8</a:t>
            </a:r>
            <a:endParaRPr b="0" lang="en-US" sz="1100" spc="-1" strike="noStrike">
              <a:solidFill>
                <a:srgbClr val="000000"/>
              </a:solidFill>
              <a:latin typeface="Arial"/>
            </a:endParaRPr>
          </a:p>
        </p:txBody>
      </p:sp>
      <p:sp>
        <p:nvSpPr>
          <p:cNvPr id="132" name="Rounded Rectangle 7"/>
          <p:cNvSpPr/>
          <p:nvPr/>
        </p:nvSpPr>
        <p:spPr>
          <a:xfrm>
            <a:off x="365760" y="1078920"/>
            <a:ext cx="6537600" cy="5257440"/>
          </a:xfrm>
          <a:prstGeom prst="roundRect">
            <a:avLst>
              <a:gd name="adj" fmla="val 4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33" name="Picture 8" descr="fig03-jalna-drought.jpg"/>
          <p:cNvPicPr/>
          <p:nvPr/>
        </p:nvPicPr>
        <p:blipFill>
          <a:blip r:embed="rId1"/>
          <a:stretch/>
        </p:blipFill>
        <p:spPr>
          <a:xfrm>
            <a:off x="475560" y="1207080"/>
            <a:ext cx="6309000" cy="4460760"/>
          </a:xfrm>
          <a:prstGeom prst="rect">
            <a:avLst/>
          </a:prstGeom>
          <a:ln w="0">
            <a:noFill/>
          </a:ln>
        </p:spPr>
      </p:pic>
      <p:sp>
        <p:nvSpPr>
          <p:cNvPr id="134" name="TextBox 9"/>
          <p:cNvSpPr/>
          <p:nvPr/>
        </p:nvSpPr>
        <p:spPr>
          <a:xfrm>
            <a:off x="7086600" y="1115640"/>
            <a:ext cx="4663080" cy="6397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1c2430"/>
                </a:solidFill>
                <a:latin typeface="Calibri"/>
                <a:ea typeface="Calibri"/>
              </a:rPr>
              <a:t>Jalna District, 2023</a:t>
            </a:r>
            <a:endParaRPr b="0" lang="en-US" sz="2200" spc="-1" strike="noStrike">
              <a:solidFill>
                <a:srgbClr val="000000"/>
              </a:solidFill>
              <a:latin typeface="Arial"/>
            </a:endParaRPr>
          </a:p>
        </p:txBody>
      </p:sp>
      <p:sp>
        <p:nvSpPr>
          <p:cNvPr id="135" name="TextBox 10"/>
          <p:cNvSpPr/>
          <p:nvPr/>
        </p:nvSpPr>
        <p:spPr>
          <a:xfrm>
            <a:off x="7086600" y="1828800"/>
            <a:ext cx="4663080" cy="3470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1b5640"/>
                </a:solidFill>
                <a:latin typeface="Calibri"/>
                <a:ea typeface="Calibri"/>
              </a:rPr>
              <a:t>0.488</a:t>
            </a:r>
            <a:endParaRPr b="0" lang="en-US" sz="2200" spc="-1" strike="noStrike">
              <a:solidFill>
                <a:srgbClr val="000000"/>
              </a:solidFill>
              <a:latin typeface="Arial"/>
            </a:endParaRPr>
          </a:p>
        </p:txBody>
      </p:sp>
      <p:sp>
        <p:nvSpPr>
          <p:cNvPr id="136" name="TextBox 11"/>
          <p:cNvSpPr/>
          <p:nvPr/>
        </p:nvSpPr>
        <p:spPr>
          <a:xfrm>
            <a:off x="7086600" y="2139840"/>
            <a:ext cx="4663080" cy="2556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Mean Vegetation Condition Index</a:t>
            </a:r>
            <a:endParaRPr b="0" lang="en-US" sz="1300" spc="-1" strike="noStrike">
              <a:solidFill>
                <a:srgbClr val="000000"/>
              </a:solidFill>
              <a:latin typeface="Arial"/>
            </a:endParaRPr>
          </a:p>
        </p:txBody>
      </p:sp>
      <p:sp>
        <p:nvSpPr>
          <p:cNvPr id="137" name="TextBox 12"/>
          <p:cNvSpPr/>
          <p:nvPr/>
        </p:nvSpPr>
        <p:spPr>
          <a:xfrm>
            <a:off x="7086600" y="2487240"/>
            <a:ext cx="4663080" cy="3470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1b5640"/>
                </a:solidFill>
                <a:latin typeface="Calibri"/>
                <a:ea typeface="Calibri"/>
              </a:rPr>
              <a:t>6,821.66 km²</a:t>
            </a:r>
            <a:endParaRPr b="0" lang="en-US" sz="2200" spc="-1" strike="noStrike">
              <a:solidFill>
                <a:srgbClr val="000000"/>
              </a:solidFill>
              <a:latin typeface="Arial"/>
            </a:endParaRPr>
          </a:p>
        </p:txBody>
      </p:sp>
      <p:sp>
        <p:nvSpPr>
          <p:cNvPr id="138" name="TextBox 13"/>
          <p:cNvSpPr/>
          <p:nvPr/>
        </p:nvSpPr>
        <p:spPr>
          <a:xfrm>
            <a:off x="7086600" y="2797920"/>
            <a:ext cx="4663080" cy="2556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Mild drought  ·  87.69%</a:t>
            </a:r>
            <a:endParaRPr b="0" lang="en-US" sz="1300" spc="-1" strike="noStrike">
              <a:solidFill>
                <a:srgbClr val="000000"/>
              </a:solidFill>
              <a:latin typeface="Arial"/>
            </a:endParaRPr>
          </a:p>
        </p:txBody>
      </p:sp>
      <p:sp>
        <p:nvSpPr>
          <p:cNvPr id="139" name="TextBox 14"/>
          <p:cNvSpPr/>
          <p:nvPr/>
        </p:nvSpPr>
        <p:spPr>
          <a:xfrm>
            <a:off x="7086600" y="3145680"/>
            <a:ext cx="4663080" cy="3470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1c2430"/>
                </a:solidFill>
                <a:latin typeface="Calibri"/>
                <a:ea typeface="Calibri"/>
              </a:rPr>
              <a:t>652.14 km²</a:t>
            </a:r>
            <a:endParaRPr b="0" lang="en-US" sz="2200" spc="-1" strike="noStrike">
              <a:solidFill>
                <a:srgbClr val="000000"/>
              </a:solidFill>
              <a:latin typeface="Arial"/>
            </a:endParaRPr>
          </a:p>
        </p:txBody>
      </p:sp>
      <p:sp>
        <p:nvSpPr>
          <p:cNvPr id="140" name="TextBox 15"/>
          <p:cNvSpPr/>
          <p:nvPr/>
        </p:nvSpPr>
        <p:spPr>
          <a:xfrm>
            <a:off x="7086600" y="3456360"/>
            <a:ext cx="4663080" cy="2556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Moderate drought</a:t>
            </a:r>
            <a:endParaRPr b="0" lang="en-US" sz="1300" spc="-1" strike="noStrike">
              <a:solidFill>
                <a:srgbClr val="000000"/>
              </a:solidFill>
              <a:latin typeface="Arial"/>
            </a:endParaRPr>
          </a:p>
        </p:txBody>
      </p:sp>
      <p:sp>
        <p:nvSpPr>
          <p:cNvPr id="141" name="TextBox 16"/>
          <p:cNvSpPr/>
          <p:nvPr/>
        </p:nvSpPr>
        <p:spPr>
          <a:xfrm>
            <a:off x="7086600" y="3803760"/>
            <a:ext cx="4663080" cy="3470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1c2430"/>
                </a:solidFill>
                <a:latin typeface="Calibri"/>
                <a:ea typeface="Calibri"/>
              </a:rPr>
              <a:t>8.55 km²</a:t>
            </a:r>
            <a:endParaRPr b="0" lang="en-US" sz="2200" spc="-1" strike="noStrike">
              <a:solidFill>
                <a:srgbClr val="000000"/>
              </a:solidFill>
              <a:latin typeface="Arial"/>
            </a:endParaRPr>
          </a:p>
        </p:txBody>
      </p:sp>
      <p:sp>
        <p:nvSpPr>
          <p:cNvPr id="142" name="TextBox 17"/>
          <p:cNvSpPr/>
          <p:nvPr/>
        </p:nvSpPr>
        <p:spPr>
          <a:xfrm>
            <a:off x="7086600" y="4114800"/>
            <a:ext cx="4663080" cy="2556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Extreme drought</a:t>
            </a:r>
            <a:endParaRPr b="0" lang="en-US" sz="1300" spc="-1" strike="noStrike">
              <a:solidFill>
                <a:srgbClr val="000000"/>
              </a:solidFill>
              <a:latin typeface="Arial"/>
            </a:endParaRPr>
          </a:p>
        </p:txBody>
      </p:sp>
      <p:sp>
        <p:nvSpPr>
          <p:cNvPr id="143" name="TextBox 18"/>
          <p:cNvSpPr/>
          <p:nvPr/>
        </p:nvSpPr>
        <p:spPr>
          <a:xfrm>
            <a:off x="7086600" y="4462200"/>
            <a:ext cx="4663080" cy="3470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1c2430"/>
                </a:solidFill>
                <a:latin typeface="Calibri"/>
                <a:ea typeface="Calibri"/>
              </a:rPr>
              <a:t>296.53 km²</a:t>
            </a:r>
            <a:endParaRPr b="0" lang="en-US" sz="2200" spc="-1" strike="noStrike">
              <a:solidFill>
                <a:srgbClr val="000000"/>
              </a:solidFill>
              <a:latin typeface="Arial"/>
            </a:endParaRPr>
          </a:p>
        </p:txBody>
      </p:sp>
      <p:sp>
        <p:nvSpPr>
          <p:cNvPr id="144" name="TextBox 19"/>
          <p:cNvSpPr/>
          <p:nvPr/>
        </p:nvSpPr>
        <p:spPr>
          <a:xfrm>
            <a:off x="7086600" y="4773240"/>
            <a:ext cx="4663080" cy="2556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Healthy vegetation</a:t>
            </a:r>
            <a:endParaRPr b="0" lang="en-US" sz="1300" spc="-1" strike="noStrike">
              <a:solidFill>
                <a:srgbClr val="000000"/>
              </a:solidFill>
              <a:latin typeface="Arial"/>
            </a:endParaRPr>
          </a:p>
        </p:txBody>
      </p:sp>
      <p:sp>
        <p:nvSpPr>
          <p:cNvPr id="145" name="TextBox 20"/>
          <p:cNvSpPr/>
          <p:nvPr/>
        </p:nvSpPr>
        <p:spPr>
          <a:xfrm>
            <a:off x="7086600" y="5212080"/>
            <a:ext cx="4663080" cy="7768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400" spc="-1" strike="noStrike">
                <a:solidFill>
                  <a:srgbClr val="1c2430"/>
                </a:solidFill>
                <a:latin typeface="Calibri"/>
                <a:ea typeface="Calibri"/>
              </a:rPr>
              <a:t>The four classes sum to 7,778.88 km². Stress was widespread. The extreme class was small.</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3ec"/>
        </a:solidFill>
      </p:bgPr>
    </p:bg>
    <p:spTree>
      <p:nvGrpSpPr>
        <p:cNvPr id="1" name=""/>
        <p:cNvGrpSpPr/>
        <p:nvPr/>
      </p:nvGrpSpPr>
      <p:grpSpPr>
        <a:xfrm>
          <a:off x="0" y="0"/>
          <a:ext cx="0" cy="0"/>
          <a:chOff x="0" y="0"/>
          <a:chExt cx="0" cy="0"/>
        </a:xfrm>
      </p:grpSpPr>
      <p:sp>
        <p:nvSpPr>
          <p:cNvPr id="146" name="Rectangle 1"/>
          <p:cNvSpPr/>
          <p:nvPr/>
        </p:nvSpPr>
        <p:spPr>
          <a:xfrm>
            <a:off x="0" y="0"/>
            <a:ext cx="12191400" cy="7272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47" name="TextBox 2"/>
          <p:cNvSpPr/>
          <p:nvPr/>
        </p:nvSpPr>
        <p:spPr>
          <a:xfrm>
            <a:off x="438840" y="201240"/>
            <a:ext cx="1124676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200" spc="-1" strike="noStrike">
                <a:solidFill>
                  <a:srgbClr val="8f6e32"/>
                </a:solidFill>
                <a:latin typeface="Calibri"/>
                <a:ea typeface="Calibri"/>
              </a:rPr>
              <a:t>PROJECT 2  ·  DELHI</a:t>
            </a:r>
            <a:endParaRPr b="0" lang="en-US" sz="1200" spc="-1" strike="noStrike">
              <a:solidFill>
                <a:srgbClr val="000000"/>
              </a:solidFill>
              <a:latin typeface="Arial"/>
            </a:endParaRPr>
          </a:p>
        </p:txBody>
      </p:sp>
      <p:sp>
        <p:nvSpPr>
          <p:cNvPr id="148" name="TextBox 3"/>
          <p:cNvSpPr/>
          <p:nvPr/>
        </p:nvSpPr>
        <p:spPr>
          <a:xfrm>
            <a:off x="438840" y="420480"/>
            <a:ext cx="11246760" cy="4384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800" spc="-1" strike="noStrike">
                <a:solidFill>
                  <a:srgbClr val="1c2430"/>
                </a:solidFill>
                <a:latin typeface="Calibri"/>
                <a:ea typeface="Calibri"/>
              </a:rPr>
              <a:t>How the heat map was made</a:t>
            </a:r>
            <a:endParaRPr b="0" lang="en-US" sz="2800" spc="-1" strike="noStrike">
              <a:solidFill>
                <a:srgbClr val="000000"/>
              </a:solidFill>
              <a:latin typeface="Arial"/>
            </a:endParaRPr>
          </a:p>
        </p:txBody>
      </p:sp>
      <p:sp>
        <p:nvSpPr>
          <p:cNvPr id="149" name="Rectangle 4"/>
          <p:cNvSpPr/>
          <p:nvPr/>
        </p:nvSpPr>
        <p:spPr>
          <a:xfrm>
            <a:off x="0" y="6565320"/>
            <a:ext cx="12191400" cy="292320"/>
          </a:xfrm>
          <a:prstGeom prst="rect">
            <a:avLst/>
          </a:prstGeom>
          <a:solidFill>
            <a:srgbClr val="1433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0" name="TextBox 5"/>
          <p:cNvSpPr/>
          <p:nvPr/>
        </p:nvSpPr>
        <p:spPr>
          <a:xfrm>
            <a:off x="411480" y="6602040"/>
            <a:ext cx="8412120" cy="219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100" spc="-1" strike="noStrike">
                <a:solidFill>
                  <a:srgbClr val="d5e4db"/>
                </a:solidFill>
                <a:latin typeface="Calibri"/>
                <a:ea typeface="Calibri"/>
              </a:rPr>
              <a:t>Nancy Verma  ·  Remote Sensing and GIS Using Python</a:t>
            </a:r>
            <a:endParaRPr b="0" lang="en-US" sz="1100" spc="-1" strike="noStrike">
              <a:solidFill>
                <a:srgbClr val="000000"/>
              </a:solidFill>
              <a:latin typeface="Arial"/>
            </a:endParaRPr>
          </a:p>
        </p:txBody>
      </p:sp>
      <p:sp>
        <p:nvSpPr>
          <p:cNvPr id="151" name="TextBox 6"/>
          <p:cNvSpPr/>
          <p:nvPr/>
        </p:nvSpPr>
        <p:spPr>
          <a:xfrm>
            <a:off x="10241280" y="6602040"/>
            <a:ext cx="1554120" cy="219240"/>
          </a:xfrm>
          <a:prstGeom prst="rect">
            <a:avLst/>
          </a:prstGeom>
          <a:noFill/>
          <a:ln w="0">
            <a:noFill/>
          </a:ln>
        </p:spPr>
        <p:style>
          <a:lnRef idx="0"/>
          <a:fillRef idx="0"/>
          <a:effectRef idx="0"/>
          <a:fontRef idx="minor"/>
        </p:style>
        <p:txBody>
          <a:bodyPr lIns="0" rIns="0" tIns="0" bIns="0" anchor="t">
            <a:noAutofit/>
          </a:bodyPr>
          <a:p>
            <a:pPr algn="r" defTabSz="457200">
              <a:lnSpc>
                <a:spcPct val="100000"/>
              </a:lnSpc>
            </a:pPr>
            <a:r>
              <a:rPr b="1" lang="en-US" sz="1100" spc="-1" strike="noStrike">
                <a:solidFill>
                  <a:srgbClr val="ffffff"/>
                </a:solidFill>
                <a:latin typeface="Calibri"/>
                <a:ea typeface="Calibri"/>
              </a:rPr>
              <a:t>5  /  8</a:t>
            </a:r>
            <a:endParaRPr b="0" lang="en-US" sz="1100" spc="-1" strike="noStrike">
              <a:solidFill>
                <a:srgbClr val="000000"/>
              </a:solidFill>
              <a:latin typeface="Arial"/>
            </a:endParaRPr>
          </a:p>
        </p:txBody>
      </p:sp>
      <p:sp>
        <p:nvSpPr>
          <p:cNvPr id="152" name="Rounded Rectangle 7"/>
          <p:cNvSpPr/>
          <p:nvPr/>
        </p:nvSpPr>
        <p:spPr>
          <a:xfrm>
            <a:off x="411480" y="1115640"/>
            <a:ext cx="11338200" cy="1051200"/>
          </a:xfrm>
          <a:prstGeom prst="roundRect">
            <a:avLst>
              <a:gd name="adj" fmla="val 6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 name="TextBox 8"/>
          <p:cNvSpPr/>
          <p:nvPr/>
        </p:nvSpPr>
        <p:spPr>
          <a:xfrm>
            <a:off x="640080" y="1261800"/>
            <a:ext cx="10972440" cy="2923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800" spc="-1" strike="noStrike">
                <a:solidFill>
                  <a:srgbClr val="1c2430"/>
                </a:solidFill>
                <a:latin typeface="Calibri"/>
                <a:ea typeface="Calibri"/>
              </a:rPr>
              <a:t>Landsat-8 Collection 2 Level-2</a:t>
            </a:r>
            <a:endParaRPr b="0" lang="en-US" sz="1800" spc="-1" strike="noStrike">
              <a:solidFill>
                <a:srgbClr val="000000"/>
              </a:solidFill>
              <a:latin typeface="Arial"/>
            </a:endParaRPr>
          </a:p>
        </p:txBody>
      </p:sp>
      <p:sp>
        <p:nvSpPr>
          <p:cNvPr id="154" name="TextBox 9"/>
          <p:cNvSpPr/>
          <p:nvPr/>
        </p:nvSpPr>
        <p:spPr>
          <a:xfrm>
            <a:off x="640080" y="1600200"/>
            <a:ext cx="10972440" cy="3654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500" spc="-1" strike="noStrike">
                <a:solidFill>
                  <a:srgbClr val="5c656e"/>
                </a:solidFill>
                <a:latin typeface="Calibri"/>
                <a:ea typeface="Calibri"/>
              </a:rPr>
              <a:t>April–June 2024   ·   cloud cover below 10%   ·   30 m   ·   median composite   ·   FAO GAUL clip</a:t>
            </a:r>
            <a:endParaRPr b="0" lang="en-US" sz="1500" spc="-1" strike="noStrike">
              <a:solidFill>
                <a:srgbClr val="000000"/>
              </a:solidFill>
              <a:latin typeface="Arial"/>
            </a:endParaRPr>
          </a:p>
        </p:txBody>
      </p:sp>
      <p:sp>
        <p:nvSpPr>
          <p:cNvPr id="155" name="Rounded Rectangle 10"/>
          <p:cNvSpPr/>
          <p:nvPr/>
        </p:nvSpPr>
        <p:spPr>
          <a:xfrm>
            <a:off x="411480" y="2359080"/>
            <a:ext cx="3520080" cy="1965600"/>
          </a:xfrm>
          <a:prstGeom prst="roundRect">
            <a:avLst>
              <a:gd name="adj" fmla="val 8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6" name="Rectangle 11"/>
          <p:cNvSpPr/>
          <p:nvPr/>
        </p:nvSpPr>
        <p:spPr>
          <a:xfrm>
            <a:off x="411480" y="2359080"/>
            <a:ext cx="3520080" cy="91080"/>
          </a:xfrm>
          <a:prstGeom prst="rect">
            <a:avLst/>
          </a:prstGeom>
          <a:solidFill>
            <a:srgbClr val="b03e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7" name="TextBox 12"/>
          <p:cNvSpPr/>
          <p:nvPr/>
        </p:nvSpPr>
        <p:spPr>
          <a:xfrm>
            <a:off x="612720" y="2541960"/>
            <a:ext cx="3108600" cy="319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000" spc="-1" strike="noStrike">
                <a:solidFill>
                  <a:srgbClr val="b03e2c"/>
                </a:solidFill>
                <a:latin typeface="Calibri"/>
                <a:ea typeface="Calibri"/>
              </a:rPr>
              <a:t>NDVI</a:t>
            </a:r>
            <a:endParaRPr b="0" lang="en-US" sz="2000" spc="-1" strike="noStrike">
              <a:solidFill>
                <a:srgbClr val="000000"/>
              </a:solidFill>
              <a:latin typeface="Arial"/>
            </a:endParaRPr>
          </a:p>
        </p:txBody>
      </p:sp>
      <p:sp>
        <p:nvSpPr>
          <p:cNvPr id="158" name="TextBox 13"/>
          <p:cNvSpPr/>
          <p:nvPr/>
        </p:nvSpPr>
        <p:spPr>
          <a:xfrm>
            <a:off x="612720" y="2880360"/>
            <a:ext cx="3108600" cy="2556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Vegetation</a:t>
            </a:r>
            <a:endParaRPr b="0" lang="en-US" sz="1300" spc="-1" strike="noStrike">
              <a:solidFill>
                <a:srgbClr val="000000"/>
              </a:solidFill>
              <a:latin typeface="Arial"/>
            </a:endParaRPr>
          </a:p>
        </p:txBody>
      </p:sp>
      <p:sp>
        <p:nvSpPr>
          <p:cNvPr id="159" name="TextBox 14"/>
          <p:cNvSpPr/>
          <p:nvPr/>
        </p:nvSpPr>
        <p:spPr>
          <a:xfrm>
            <a:off x="612720" y="3200400"/>
            <a:ext cx="3154320" cy="6397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300" spc="-1" strike="noStrike">
                <a:solidFill>
                  <a:srgbClr val="1c2430"/>
                </a:solidFill>
                <a:latin typeface="Calibri"/>
                <a:ea typeface="Calibri"/>
              </a:rPr>
              <a:t>(NIR − Red) / (NIR + Red)</a:t>
            </a:r>
            <a:endParaRPr b="0" lang="en-US" sz="1300" spc="-1" strike="noStrike">
              <a:solidFill>
                <a:srgbClr val="000000"/>
              </a:solidFill>
              <a:latin typeface="Arial"/>
            </a:endParaRPr>
          </a:p>
        </p:txBody>
      </p:sp>
      <p:sp>
        <p:nvSpPr>
          <p:cNvPr id="160" name="TextBox 15"/>
          <p:cNvSpPr/>
          <p:nvPr/>
        </p:nvSpPr>
        <p:spPr>
          <a:xfrm>
            <a:off x="612720" y="3840480"/>
            <a:ext cx="3108600" cy="27396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200" spc="-1" strike="noStrike">
                <a:solidFill>
                  <a:srgbClr val="5c656e"/>
                </a:solidFill>
                <a:latin typeface="Calibri"/>
                <a:ea typeface="Calibri"/>
              </a:rPr>
              <a:t>Bands 5 and 4</a:t>
            </a:r>
            <a:endParaRPr b="0" lang="en-US" sz="1200" spc="-1" strike="noStrike">
              <a:solidFill>
                <a:srgbClr val="000000"/>
              </a:solidFill>
              <a:latin typeface="Arial"/>
            </a:endParaRPr>
          </a:p>
        </p:txBody>
      </p:sp>
      <p:sp>
        <p:nvSpPr>
          <p:cNvPr id="161" name="Rounded Rectangle 16"/>
          <p:cNvSpPr/>
          <p:nvPr/>
        </p:nvSpPr>
        <p:spPr>
          <a:xfrm>
            <a:off x="4343400" y="2359080"/>
            <a:ext cx="3520080" cy="1965600"/>
          </a:xfrm>
          <a:prstGeom prst="roundRect">
            <a:avLst>
              <a:gd name="adj" fmla="val 8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2" name="Rectangle 17"/>
          <p:cNvSpPr/>
          <p:nvPr/>
        </p:nvSpPr>
        <p:spPr>
          <a:xfrm>
            <a:off x="4343400" y="2359080"/>
            <a:ext cx="3520080" cy="91080"/>
          </a:xfrm>
          <a:prstGeom prst="rect">
            <a:avLst/>
          </a:prstGeom>
          <a:solidFill>
            <a:srgbClr val="b03e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3" name="TextBox 18"/>
          <p:cNvSpPr/>
          <p:nvPr/>
        </p:nvSpPr>
        <p:spPr>
          <a:xfrm>
            <a:off x="4544640" y="2541960"/>
            <a:ext cx="3108600" cy="319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000" spc="-1" strike="noStrike">
                <a:solidFill>
                  <a:srgbClr val="b03e2c"/>
                </a:solidFill>
                <a:latin typeface="Calibri"/>
                <a:ea typeface="Calibri"/>
              </a:rPr>
              <a:t>NDBI</a:t>
            </a:r>
            <a:endParaRPr b="0" lang="en-US" sz="2000" spc="-1" strike="noStrike">
              <a:solidFill>
                <a:srgbClr val="000000"/>
              </a:solidFill>
              <a:latin typeface="Arial"/>
            </a:endParaRPr>
          </a:p>
        </p:txBody>
      </p:sp>
      <p:sp>
        <p:nvSpPr>
          <p:cNvPr id="164" name="TextBox 19"/>
          <p:cNvSpPr/>
          <p:nvPr/>
        </p:nvSpPr>
        <p:spPr>
          <a:xfrm>
            <a:off x="4544640" y="2880360"/>
            <a:ext cx="3108600" cy="2556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Built-up</a:t>
            </a:r>
            <a:endParaRPr b="0" lang="en-US" sz="1300" spc="-1" strike="noStrike">
              <a:solidFill>
                <a:srgbClr val="000000"/>
              </a:solidFill>
              <a:latin typeface="Arial"/>
            </a:endParaRPr>
          </a:p>
        </p:txBody>
      </p:sp>
      <p:sp>
        <p:nvSpPr>
          <p:cNvPr id="165" name="TextBox 20"/>
          <p:cNvSpPr/>
          <p:nvPr/>
        </p:nvSpPr>
        <p:spPr>
          <a:xfrm>
            <a:off x="4544640" y="3200400"/>
            <a:ext cx="3154320" cy="6397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300" spc="-1" strike="noStrike">
                <a:solidFill>
                  <a:srgbClr val="1c2430"/>
                </a:solidFill>
                <a:latin typeface="Calibri"/>
                <a:ea typeface="Calibri"/>
              </a:rPr>
              <a:t>(SWIR − NIR) / (SWIR + NIR)</a:t>
            </a:r>
            <a:endParaRPr b="0" lang="en-US" sz="1300" spc="-1" strike="noStrike">
              <a:solidFill>
                <a:srgbClr val="000000"/>
              </a:solidFill>
              <a:latin typeface="Arial"/>
            </a:endParaRPr>
          </a:p>
        </p:txBody>
      </p:sp>
      <p:sp>
        <p:nvSpPr>
          <p:cNvPr id="166" name="TextBox 21"/>
          <p:cNvSpPr/>
          <p:nvPr/>
        </p:nvSpPr>
        <p:spPr>
          <a:xfrm>
            <a:off x="4544640" y="3840480"/>
            <a:ext cx="3108600" cy="27396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200" spc="-1" strike="noStrike">
                <a:solidFill>
                  <a:srgbClr val="5c656e"/>
                </a:solidFill>
                <a:latin typeface="Calibri"/>
                <a:ea typeface="Calibri"/>
              </a:rPr>
              <a:t>Bands 6 and 5</a:t>
            </a:r>
            <a:endParaRPr b="0" lang="en-US" sz="1200" spc="-1" strike="noStrike">
              <a:solidFill>
                <a:srgbClr val="000000"/>
              </a:solidFill>
              <a:latin typeface="Arial"/>
            </a:endParaRPr>
          </a:p>
        </p:txBody>
      </p:sp>
      <p:sp>
        <p:nvSpPr>
          <p:cNvPr id="167" name="Rounded Rectangle 22"/>
          <p:cNvSpPr/>
          <p:nvPr/>
        </p:nvSpPr>
        <p:spPr>
          <a:xfrm>
            <a:off x="8275320" y="2359080"/>
            <a:ext cx="3520080" cy="1965600"/>
          </a:xfrm>
          <a:prstGeom prst="roundRect">
            <a:avLst>
              <a:gd name="adj" fmla="val 8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8" name="Rectangle 23"/>
          <p:cNvSpPr/>
          <p:nvPr/>
        </p:nvSpPr>
        <p:spPr>
          <a:xfrm>
            <a:off x="8275320" y="2359080"/>
            <a:ext cx="3520080" cy="91080"/>
          </a:xfrm>
          <a:prstGeom prst="rect">
            <a:avLst/>
          </a:prstGeom>
          <a:solidFill>
            <a:srgbClr val="b03e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9" name="TextBox 24"/>
          <p:cNvSpPr/>
          <p:nvPr/>
        </p:nvSpPr>
        <p:spPr>
          <a:xfrm>
            <a:off x="8476560" y="2541960"/>
            <a:ext cx="3108600" cy="319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000" spc="-1" strike="noStrike">
                <a:solidFill>
                  <a:srgbClr val="b03e2c"/>
                </a:solidFill>
                <a:latin typeface="Calibri"/>
                <a:ea typeface="Calibri"/>
              </a:rPr>
              <a:t>LST</a:t>
            </a:r>
            <a:endParaRPr b="0" lang="en-US" sz="2000" spc="-1" strike="noStrike">
              <a:solidFill>
                <a:srgbClr val="000000"/>
              </a:solidFill>
              <a:latin typeface="Arial"/>
            </a:endParaRPr>
          </a:p>
        </p:txBody>
      </p:sp>
      <p:sp>
        <p:nvSpPr>
          <p:cNvPr id="170" name="TextBox 25"/>
          <p:cNvSpPr/>
          <p:nvPr/>
        </p:nvSpPr>
        <p:spPr>
          <a:xfrm>
            <a:off x="8476560" y="2880360"/>
            <a:ext cx="3108600" cy="2556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Temperature</a:t>
            </a:r>
            <a:endParaRPr b="0" lang="en-US" sz="1300" spc="-1" strike="noStrike">
              <a:solidFill>
                <a:srgbClr val="000000"/>
              </a:solidFill>
              <a:latin typeface="Arial"/>
            </a:endParaRPr>
          </a:p>
        </p:txBody>
      </p:sp>
      <p:sp>
        <p:nvSpPr>
          <p:cNvPr id="171" name="TextBox 26"/>
          <p:cNvSpPr/>
          <p:nvPr/>
        </p:nvSpPr>
        <p:spPr>
          <a:xfrm>
            <a:off x="8476560" y="3200400"/>
            <a:ext cx="3154320" cy="6397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300" spc="-1" strike="noStrike">
                <a:solidFill>
                  <a:srgbClr val="1c2430"/>
                </a:solidFill>
                <a:latin typeface="Calibri"/>
                <a:ea typeface="Calibri"/>
              </a:rPr>
              <a:t>(ST_B10 × 0.00341802 + 149) − 273.15</a:t>
            </a:r>
            <a:endParaRPr b="0" lang="en-US" sz="1300" spc="-1" strike="noStrike">
              <a:solidFill>
                <a:srgbClr val="000000"/>
              </a:solidFill>
              <a:latin typeface="Arial"/>
            </a:endParaRPr>
          </a:p>
        </p:txBody>
      </p:sp>
      <p:sp>
        <p:nvSpPr>
          <p:cNvPr id="172" name="TextBox 27"/>
          <p:cNvSpPr/>
          <p:nvPr/>
        </p:nvSpPr>
        <p:spPr>
          <a:xfrm>
            <a:off x="8476560" y="3840480"/>
            <a:ext cx="3108600" cy="27396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200" spc="-1" strike="noStrike">
                <a:solidFill>
                  <a:srgbClr val="5c656e"/>
                </a:solidFill>
                <a:latin typeface="Calibri"/>
                <a:ea typeface="Calibri"/>
              </a:rPr>
              <a:t>Degrees Celsius</a:t>
            </a:r>
            <a:endParaRPr b="0" lang="en-US" sz="1200" spc="-1" strike="noStrike">
              <a:solidFill>
                <a:srgbClr val="000000"/>
              </a:solidFill>
              <a:latin typeface="Arial"/>
            </a:endParaRPr>
          </a:p>
        </p:txBody>
      </p:sp>
      <p:sp>
        <p:nvSpPr>
          <p:cNvPr id="173" name="Rounded Rectangle 28"/>
          <p:cNvSpPr/>
          <p:nvPr/>
        </p:nvSpPr>
        <p:spPr>
          <a:xfrm>
            <a:off x="411480" y="4526280"/>
            <a:ext cx="11338200" cy="1737000"/>
          </a:xfrm>
          <a:prstGeom prst="roundRect">
            <a:avLst>
              <a:gd name="adj" fmla="val 6000"/>
            </a:avLst>
          </a:prstGeom>
          <a:solidFill>
            <a:srgbClr val="f8ea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4" name="TextBox 29"/>
          <p:cNvSpPr/>
          <p:nvPr/>
        </p:nvSpPr>
        <p:spPr>
          <a:xfrm>
            <a:off x="640080" y="4663440"/>
            <a:ext cx="10972440" cy="27396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600" spc="-1" strike="noStrike">
                <a:solidFill>
                  <a:srgbClr val="b03e2c"/>
                </a:solidFill>
                <a:latin typeface="Calibri"/>
                <a:ea typeface="Calibri"/>
              </a:rPr>
              <a:t>Heat zones used for the area table</a:t>
            </a:r>
            <a:endParaRPr b="0" lang="en-US" sz="1600" spc="-1" strike="noStrike">
              <a:solidFill>
                <a:srgbClr val="000000"/>
              </a:solidFill>
              <a:latin typeface="Arial"/>
            </a:endParaRPr>
          </a:p>
        </p:txBody>
      </p:sp>
      <p:sp>
        <p:nvSpPr>
          <p:cNvPr id="175" name="TextBox 30"/>
          <p:cNvSpPr/>
          <p:nvPr/>
        </p:nvSpPr>
        <p:spPr>
          <a:xfrm>
            <a:off x="640080" y="5047560"/>
            <a:ext cx="2697120" cy="3654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000" spc="-1" strike="noStrike">
                <a:solidFill>
                  <a:srgbClr val="1c2430"/>
                </a:solidFill>
                <a:latin typeface="Calibri"/>
                <a:ea typeface="Calibri"/>
              </a:rPr>
              <a:t>Below 40°C</a:t>
            </a:r>
            <a:endParaRPr b="0" lang="en-US" sz="2000" spc="-1" strike="noStrike">
              <a:solidFill>
                <a:srgbClr val="000000"/>
              </a:solidFill>
              <a:latin typeface="Arial"/>
            </a:endParaRPr>
          </a:p>
        </p:txBody>
      </p:sp>
      <p:sp>
        <p:nvSpPr>
          <p:cNvPr id="176" name="TextBox 31"/>
          <p:cNvSpPr/>
          <p:nvPr/>
        </p:nvSpPr>
        <p:spPr>
          <a:xfrm>
            <a:off x="640080" y="5449680"/>
            <a:ext cx="269712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400" spc="-1" strike="noStrike">
                <a:solidFill>
                  <a:srgbClr val="5c656e"/>
                </a:solidFill>
                <a:latin typeface="Calibri"/>
                <a:ea typeface="Calibri"/>
              </a:rPr>
              <a:t>Low</a:t>
            </a:r>
            <a:endParaRPr b="0" lang="en-US" sz="1400" spc="-1" strike="noStrike">
              <a:solidFill>
                <a:srgbClr val="000000"/>
              </a:solidFill>
              <a:latin typeface="Arial"/>
            </a:endParaRPr>
          </a:p>
        </p:txBody>
      </p:sp>
      <p:sp>
        <p:nvSpPr>
          <p:cNvPr id="177" name="TextBox 32"/>
          <p:cNvSpPr/>
          <p:nvPr/>
        </p:nvSpPr>
        <p:spPr>
          <a:xfrm>
            <a:off x="3429000" y="5047560"/>
            <a:ext cx="2697120" cy="3654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000" spc="-1" strike="noStrike">
                <a:solidFill>
                  <a:srgbClr val="1c2430"/>
                </a:solidFill>
                <a:latin typeface="Calibri"/>
                <a:ea typeface="Calibri"/>
              </a:rPr>
              <a:t>40–45°C</a:t>
            </a:r>
            <a:endParaRPr b="0" lang="en-US" sz="2000" spc="-1" strike="noStrike">
              <a:solidFill>
                <a:srgbClr val="000000"/>
              </a:solidFill>
              <a:latin typeface="Arial"/>
            </a:endParaRPr>
          </a:p>
        </p:txBody>
      </p:sp>
      <p:sp>
        <p:nvSpPr>
          <p:cNvPr id="178" name="TextBox 33"/>
          <p:cNvSpPr/>
          <p:nvPr/>
        </p:nvSpPr>
        <p:spPr>
          <a:xfrm>
            <a:off x="3429000" y="5449680"/>
            <a:ext cx="269712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400" spc="-1" strike="noStrike">
                <a:solidFill>
                  <a:srgbClr val="5c656e"/>
                </a:solidFill>
                <a:latin typeface="Calibri"/>
                <a:ea typeface="Calibri"/>
              </a:rPr>
              <a:t>Moderate</a:t>
            </a:r>
            <a:endParaRPr b="0" lang="en-US" sz="1400" spc="-1" strike="noStrike">
              <a:solidFill>
                <a:srgbClr val="000000"/>
              </a:solidFill>
              <a:latin typeface="Arial"/>
            </a:endParaRPr>
          </a:p>
        </p:txBody>
      </p:sp>
      <p:sp>
        <p:nvSpPr>
          <p:cNvPr id="179" name="TextBox 34"/>
          <p:cNvSpPr/>
          <p:nvPr/>
        </p:nvSpPr>
        <p:spPr>
          <a:xfrm>
            <a:off x="6217920" y="5047560"/>
            <a:ext cx="2697120" cy="3654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000" spc="-1" strike="noStrike">
                <a:solidFill>
                  <a:srgbClr val="1c2430"/>
                </a:solidFill>
                <a:latin typeface="Calibri"/>
                <a:ea typeface="Calibri"/>
              </a:rPr>
              <a:t>45–50°C</a:t>
            </a:r>
            <a:endParaRPr b="0" lang="en-US" sz="2000" spc="-1" strike="noStrike">
              <a:solidFill>
                <a:srgbClr val="000000"/>
              </a:solidFill>
              <a:latin typeface="Arial"/>
            </a:endParaRPr>
          </a:p>
        </p:txBody>
      </p:sp>
      <p:sp>
        <p:nvSpPr>
          <p:cNvPr id="180" name="TextBox 35"/>
          <p:cNvSpPr/>
          <p:nvPr/>
        </p:nvSpPr>
        <p:spPr>
          <a:xfrm>
            <a:off x="6217920" y="5449680"/>
            <a:ext cx="269712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400" spc="-1" strike="noStrike">
                <a:solidFill>
                  <a:srgbClr val="5c656e"/>
                </a:solidFill>
                <a:latin typeface="Calibri"/>
                <a:ea typeface="Calibri"/>
              </a:rPr>
              <a:t>High</a:t>
            </a:r>
            <a:endParaRPr b="0" lang="en-US" sz="1400" spc="-1" strike="noStrike">
              <a:solidFill>
                <a:srgbClr val="000000"/>
              </a:solidFill>
              <a:latin typeface="Arial"/>
            </a:endParaRPr>
          </a:p>
        </p:txBody>
      </p:sp>
      <p:sp>
        <p:nvSpPr>
          <p:cNvPr id="181" name="TextBox 36"/>
          <p:cNvSpPr/>
          <p:nvPr/>
        </p:nvSpPr>
        <p:spPr>
          <a:xfrm>
            <a:off x="9006840" y="5047560"/>
            <a:ext cx="2697120" cy="3654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000" spc="-1" strike="noStrike">
                <a:solidFill>
                  <a:srgbClr val="1c2430"/>
                </a:solidFill>
                <a:latin typeface="Calibri"/>
                <a:ea typeface="Calibri"/>
              </a:rPr>
              <a:t>Above 50°C</a:t>
            </a:r>
            <a:endParaRPr b="0" lang="en-US" sz="2000" spc="-1" strike="noStrike">
              <a:solidFill>
                <a:srgbClr val="000000"/>
              </a:solidFill>
              <a:latin typeface="Arial"/>
            </a:endParaRPr>
          </a:p>
        </p:txBody>
      </p:sp>
      <p:sp>
        <p:nvSpPr>
          <p:cNvPr id="182" name="TextBox 37"/>
          <p:cNvSpPr/>
          <p:nvPr/>
        </p:nvSpPr>
        <p:spPr>
          <a:xfrm>
            <a:off x="9006840" y="5449680"/>
            <a:ext cx="269712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400" spc="-1" strike="noStrike">
                <a:solidFill>
                  <a:srgbClr val="5c656e"/>
                </a:solidFill>
                <a:latin typeface="Calibri"/>
                <a:ea typeface="Calibri"/>
              </a:rPr>
              <a:t>Very high · hotspot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3ec"/>
        </a:solidFill>
      </p:bgPr>
    </p:bg>
    <p:spTree>
      <p:nvGrpSpPr>
        <p:cNvPr id="1" name=""/>
        <p:cNvGrpSpPr/>
        <p:nvPr/>
      </p:nvGrpSpPr>
      <p:grpSpPr>
        <a:xfrm>
          <a:off x="0" y="0"/>
          <a:ext cx="0" cy="0"/>
          <a:chOff x="0" y="0"/>
          <a:chExt cx="0" cy="0"/>
        </a:xfrm>
      </p:grpSpPr>
      <p:sp>
        <p:nvSpPr>
          <p:cNvPr id="183" name="Rectangle 1"/>
          <p:cNvSpPr/>
          <p:nvPr/>
        </p:nvSpPr>
        <p:spPr>
          <a:xfrm>
            <a:off x="0" y="0"/>
            <a:ext cx="12191400" cy="7272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84" name="TextBox 2"/>
          <p:cNvSpPr/>
          <p:nvPr/>
        </p:nvSpPr>
        <p:spPr>
          <a:xfrm>
            <a:off x="438840" y="201240"/>
            <a:ext cx="1124676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200" spc="-1" strike="noStrike">
                <a:solidFill>
                  <a:srgbClr val="8f6e32"/>
                </a:solidFill>
                <a:latin typeface="Calibri"/>
                <a:ea typeface="Calibri"/>
              </a:rPr>
              <a:t>PROJECT 2  ·  RESULT</a:t>
            </a:r>
            <a:endParaRPr b="0" lang="en-US" sz="1200" spc="-1" strike="noStrike">
              <a:solidFill>
                <a:srgbClr val="000000"/>
              </a:solidFill>
              <a:latin typeface="Arial"/>
            </a:endParaRPr>
          </a:p>
        </p:txBody>
      </p:sp>
      <p:sp>
        <p:nvSpPr>
          <p:cNvPr id="185" name="TextBox 3"/>
          <p:cNvSpPr/>
          <p:nvPr/>
        </p:nvSpPr>
        <p:spPr>
          <a:xfrm>
            <a:off x="438840" y="420480"/>
            <a:ext cx="11246760" cy="4384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800" spc="-1" strike="noStrike">
                <a:solidFill>
                  <a:srgbClr val="1c2430"/>
                </a:solidFill>
                <a:latin typeface="Calibri"/>
                <a:ea typeface="Calibri"/>
              </a:rPr>
              <a:t>A hot surface, with a cooler river corridor</a:t>
            </a:r>
            <a:endParaRPr b="0" lang="en-US" sz="2800" spc="-1" strike="noStrike">
              <a:solidFill>
                <a:srgbClr val="000000"/>
              </a:solidFill>
              <a:latin typeface="Arial"/>
            </a:endParaRPr>
          </a:p>
        </p:txBody>
      </p:sp>
      <p:sp>
        <p:nvSpPr>
          <p:cNvPr id="186" name="Rectangle 4"/>
          <p:cNvSpPr/>
          <p:nvPr/>
        </p:nvSpPr>
        <p:spPr>
          <a:xfrm>
            <a:off x="0" y="6565320"/>
            <a:ext cx="12191400" cy="292320"/>
          </a:xfrm>
          <a:prstGeom prst="rect">
            <a:avLst/>
          </a:prstGeom>
          <a:solidFill>
            <a:srgbClr val="1433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7" name="TextBox 5"/>
          <p:cNvSpPr/>
          <p:nvPr/>
        </p:nvSpPr>
        <p:spPr>
          <a:xfrm>
            <a:off x="411480" y="6602040"/>
            <a:ext cx="8412120" cy="219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100" spc="-1" strike="noStrike">
                <a:solidFill>
                  <a:srgbClr val="d5e4db"/>
                </a:solidFill>
                <a:latin typeface="Calibri"/>
                <a:ea typeface="Calibri"/>
              </a:rPr>
              <a:t>Nancy Verma  ·  Remote Sensing and GIS Using Python</a:t>
            </a:r>
            <a:endParaRPr b="0" lang="en-US" sz="1100" spc="-1" strike="noStrike">
              <a:solidFill>
                <a:srgbClr val="000000"/>
              </a:solidFill>
              <a:latin typeface="Arial"/>
            </a:endParaRPr>
          </a:p>
        </p:txBody>
      </p:sp>
      <p:sp>
        <p:nvSpPr>
          <p:cNvPr id="188" name="TextBox 6"/>
          <p:cNvSpPr/>
          <p:nvPr/>
        </p:nvSpPr>
        <p:spPr>
          <a:xfrm>
            <a:off x="10241280" y="6602040"/>
            <a:ext cx="1554120" cy="219240"/>
          </a:xfrm>
          <a:prstGeom prst="rect">
            <a:avLst/>
          </a:prstGeom>
          <a:noFill/>
          <a:ln w="0">
            <a:noFill/>
          </a:ln>
        </p:spPr>
        <p:style>
          <a:lnRef idx="0"/>
          <a:fillRef idx="0"/>
          <a:effectRef idx="0"/>
          <a:fontRef idx="minor"/>
        </p:style>
        <p:txBody>
          <a:bodyPr lIns="0" rIns="0" tIns="0" bIns="0" anchor="t">
            <a:noAutofit/>
          </a:bodyPr>
          <a:p>
            <a:pPr algn="r" defTabSz="457200">
              <a:lnSpc>
                <a:spcPct val="100000"/>
              </a:lnSpc>
            </a:pPr>
            <a:r>
              <a:rPr b="1" lang="en-US" sz="1100" spc="-1" strike="noStrike">
                <a:solidFill>
                  <a:srgbClr val="ffffff"/>
                </a:solidFill>
                <a:latin typeface="Calibri"/>
                <a:ea typeface="Calibri"/>
              </a:rPr>
              <a:t>6  /  8</a:t>
            </a:r>
            <a:endParaRPr b="0" lang="en-US" sz="1100" spc="-1" strike="noStrike">
              <a:solidFill>
                <a:srgbClr val="000000"/>
              </a:solidFill>
              <a:latin typeface="Arial"/>
            </a:endParaRPr>
          </a:p>
        </p:txBody>
      </p:sp>
      <p:sp>
        <p:nvSpPr>
          <p:cNvPr id="189" name="Rounded Rectangle 7"/>
          <p:cNvSpPr/>
          <p:nvPr/>
        </p:nvSpPr>
        <p:spPr>
          <a:xfrm>
            <a:off x="365760" y="1078920"/>
            <a:ext cx="6537600" cy="5257440"/>
          </a:xfrm>
          <a:prstGeom prst="roundRect">
            <a:avLst>
              <a:gd name="adj" fmla="val 4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90" name="Picture 8" descr="fig06-delhi-lst.jpg"/>
          <p:cNvPicPr/>
          <p:nvPr/>
        </p:nvPicPr>
        <p:blipFill>
          <a:blip r:embed="rId1"/>
          <a:stretch/>
        </p:blipFill>
        <p:spPr>
          <a:xfrm>
            <a:off x="475560" y="1207080"/>
            <a:ext cx="6309000" cy="4460760"/>
          </a:xfrm>
          <a:prstGeom prst="rect">
            <a:avLst/>
          </a:prstGeom>
          <a:ln w="0">
            <a:noFill/>
          </a:ln>
        </p:spPr>
      </p:pic>
      <p:sp>
        <p:nvSpPr>
          <p:cNvPr id="191" name="TextBox 9"/>
          <p:cNvSpPr/>
          <p:nvPr/>
        </p:nvSpPr>
        <p:spPr>
          <a:xfrm>
            <a:off x="7086600" y="1097280"/>
            <a:ext cx="4708800" cy="50256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1c2430"/>
                </a:solidFill>
                <a:latin typeface="Calibri"/>
                <a:ea typeface="Calibri"/>
              </a:rPr>
              <a:t>Delhi, April–June 2024</a:t>
            </a:r>
            <a:endParaRPr b="0" lang="en-US" sz="2200" spc="-1" strike="noStrike">
              <a:solidFill>
                <a:srgbClr val="000000"/>
              </a:solidFill>
              <a:latin typeface="Arial"/>
            </a:endParaRPr>
          </a:p>
        </p:txBody>
      </p:sp>
      <p:sp>
        <p:nvSpPr>
          <p:cNvPr id="192" name="TextBox 10"/>
          <p:cNvSpPr/>
          <p:nvPr/>
        </p:nvSpPr>
        <p:spPr>
          <a:xfrm>
            <a:off x="7086600" y="1691640"/>
            <a:ext cx="470880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b03e2c"/>
                </a:solidFill>
                <a:latin typeface="Calibri"/>
                <a:ea typeface="Calibri"/>
              </a:rPr>
              <a:t>33.10°C</a:t>
            </a:r>
            <a:endParaRPr b="0" lang="en-US" sz="2200" spc="-1" strike="noStrike">
              <a:solidFill>
                <a:srgbClr val="000000"/>
              </a:solidFill>
              <a:latin typeface="Arial"/>
            </a:endParaRPr>
          </a:p>
        </p:txBody>
      </p:sp>
      <p:sp>
        <p:nvSpPr>
          <p:cNvPr id="193" name="TextBox 11"/>
          <p:cNvSpPr/>
          <p:nvPr/>
        </p:nvSpPr>
        <p:spPr>
          <a:xfrm>
            <a:off x="7086600" y="1984320"/>
            <a:ext cx="470880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Minimum</a:t>
            </a:r>
            <a:endParaRPr b="0" lang="en-US" sz="1300" spc="-1" strike="noStrike">
              <a:solidFill>
                <a:srgbClr val="000000"/>
              </a:solidFill>
              <a:latin typeface="Arial"/>
            </a:endParaRPr>
          </a:p>
        </p:txBody>
      </p:sp>
      <p:sp>
        <p:nvSpPr>
          <p:cNvPr id="194" name="TextBox 12"/>
          <p:cNvSpPr/>
          <p:nvPr/>
        </p:nvSpPr>
        <p:spPr>
          <a:xfrm>
            <a:off x="7086600" y="2313360"/>
            <a:ext cx="470880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b03e2c"/>
                </a:solidFill>
                <a:latin typeface="Calibri"/>
                <a:ea typeface="Calibri"/>
              </a:rPr>
              <a:t>57.71°C</a:t>
            </a:r>
            <a:endParaRPr b="0" lang="en-US" sz="2200" spc="-1" strike="noStrike">
              <a:solidFill>
                <a:srgbClr val="000000"/>
              </a:solidFill>
              <a:latin typeface="Arial"/>
            </a:endParaRPr>
          </a:p>
        </p:txBody>
      </p:sp>
      <p:sp>
        <p:nvSpPr>
          <p:cNvPr id="195" name="TextBox 13"/>
          <p:cNvSpPr/>
          <p:nvPr/>
        </p:nvSpPr>
        <p:spPr>
          <a:xfrm>
            <a:off x="7086600" y="2606040"/>
            <a:ext cx="470880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Maximum</a:t>
            </a:r>
            <a:endParaRPr b="0" lang="en-US" sz="1300" spc="-1" strike="noStrike">
              <a:solidFill>
                <a:srgbClr val="000000"/>
              </a:solidFill>
              <a:latin typeface="Arial"/>
            </a:endParaRPr>
          </a:p>
        </p:txBody>
      </p:sp>
      <p:sp>
        <p:nvSpPr>
          <p:cNvPr id="196" name="TextBox 14"/>
          <p:cNvSpPr/>
          <p:nvPr/>
        </p:nvSpPr>
        <p:spPr>
          <a:xfrm>
            <a:off x="7086600" y="2935080"/>
            <a:ext cx="470880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b03e2c"/>
                </a:solidFill>
                <a:latin typeface="Calibri"/>
                <a:ea typeface="Calibri"/>
              </a:rPr>
              <a:t>46.66°C</a:t>
            </a:r>
            <a:endParaRPr b="0" lang="en-US" sz="2200" spc="-1" strike="noStrike">
              <a:solidFill>
                <a:srgbClr val="000000"/>
              </a:solidFill>
              <a:latin typeface="Arial"/>
            </a:endParaRPr>
          </a:p>
        </p:txBody>
      </p:sp>
      <p:sp>
        <p:nvSpPr>
          <p:cNvPr id="197" name="TextBox 15"/>
          <p:cNvSpPr/>
          <p:nvPr/>
        </p:nvSpPr>
        <p:spPr>
          <a:xfrm>
            <a:off x="7086600" y="3227760"/>
            <a:ext cx="470880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Mean     ·     s.d. 3.36°C</a:t>
            </a:r>
            <a:endParaRPr b="0" lang="en-US" sz="1300" spc="-1" strike="noStrike">
              <a:solidFill>
                <a:srgbClr val="000000"/>
              </a:solidFill>
              <a:latin typeface="Arial"/>
            </a:endParaRPr>
          </a:p>
        </p:txBody>
      </p:sp>
      <p:sp>
        <p:nvSpPr>
          <p:cNvPr id="198" name="TextBox 16"/>
          <p:cNvSpPr/>
          <p:nvPr/>
        </p:nvSpPr>
        <p:spPr>
          <a:xfrm>
            <a:off x="7086600" y="3557160"/>
            <a:ext cx="470880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b03e2c"/>
                </a:solidFill>
                <a:latin typeface="Calibri"/>
                <a:ea typeface="Calibri"/>
              </a:rPr>
              <a:t>259.16 km²</a:t>
            </a:r>
            <a:endParaRPr b="0" lang="en-US" sz="2200" spc="-1" strike="noStrike">
              <a:solidFill>
                <a:srgbClr val="000000"/>
              </a:solidFill>
              <a:latin typeface="Arial"/>
            </a:endParaRPr>
          </a:p>
        </p:txBody>
      </p:sp>
      <p:sp>
        <p:nvSpPr>
          <p:cNvPr id="199" name="TextBox 17"/>
          <p:cNvSpPr/>
          <p:nvPr/>
        </p:nvSpPr>
        <p:spPr>
          <a:xfrm>
            <a:off x="7086600" y="3849480"/>
            <a:ext cx="470880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Above 50°C</a:t>
            </a:r>
            <a:endParaRPr b="0" lang="en-US" sz="1300" spc="-1" strike="noStrike">
              <a:solidFill>
                <a:srgbClr val="000000"/>
              </a:solidFill>
              <a:latin typeface="Arial"/>
            </a:endParaRPr>
          </a:p>
        </p:txBody>
      </p:sp>
      <p:sp>
        <p:nvSpPr>
          <p:cNvPr id="200" name="TextBox 18"/>
          <p:cNvSpPr/>
          <p:nvPr/>
        </p:nvSpPr>
        <p:spPr>
          <a:xfrm>
            <a:off x="7086600" y="4178880"/>
            <a:ext cx="470880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200" spc="-1" strike="noStrike">
                <a:solidFill>
                  <a:srgbClr val="b03e2c"/>
                </a:solidFill>
                <a:latin typeface="Calibri"/>
                <a:ea typeface="Calibri"/>
              </a:rPr>
              <a:t>17.25%</a:t>
            </a:r>
            <a:endParaRPr b="0" lang="en-US" sz="2200" spc="-1" strike="noStrike">
              <a:solidFill>
                <a:srgbClr val="000000"/>
              </a:solidFill>
              <a:latin typeface="Arial"/>
            </a:endParaRPr>
          </a:p>
        </p:txBody>
      </p:sp>
      <p:sp>
        <p:nvSpPr>
          <p:cNvPr id="201" name="TextBox 19"/>
          <p:cNvSpPr/>
          <p:nvPr/>
        </p:nvSpPr>
        <p:spPr>
          <a:xfrm>
            <a:off x="7086600" y="4471560"/>
            <a:ext cx="470880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300" spc="-1" strike="noStrike">
                <a:solidFill>
                  <a:srgbClr val="5c656e"/>
                </a:solidFill>
                <a:latin typeface="Calibri"/>
                <a:ea typeface="Calibri"/>
              </a:rPr>
              <a:t>Of the classified 1,502.20 km²</a:t>
            </a:r>
            <a:endParaRPr b="0" lang="en-US" sz="1300" spc="-1" strike="noStrike">
              <a:solidFill>
                <a:srgbClr val="000000"/>
              </a:solidFill>
              <a:latin typeface="Arial"/>
            </a:endParaRPr>
          </a:p>
        </p:txBody>
      </p:sp>
      <p:sp>
        <p:nvSpPr>
          <p:cNvPr id="202" name="TextBox 20"/>
          <p:cNvSpPr/>
          <p:nvPr/>
        </p:nvSpPr>
        <p:spPr>
          <a:xfrm>
            <a:off x="7086600" y="4937760"/>
            <a:ext cx="4708800" cy="10969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500" spc="-1" strike="noStrike">
                <a:solidFill>
                  <a:srgbClr val="1c2430"/>
                </a:solidFill>
                <a:latin typeface="Calibri"/>
                <a:ea typeface="Calibri"/>
              </a:rPr>
              <a:t>Cooler near the Yamuna, parks and woodland. Hotter in the west and south-west.</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3ec"/>
        </a:solidFill>
      </p:bgPr>
    </p:bg>
    <p:spTree>
      <p:nvGrpSpPr>
        <p:cNvPr id="1" name=""/>
        <p:cNvGrpSpPr/>
        <p:nvPr/>
      </p:nvGrpSpPr>
      <p:grpSpPr>
        <a:xfrm>
          <a:off x="0" y="0"/>
          <a:ext cx="0" cy="0"/>
          <a:chOff x="0" y="0"/>
          <a:chExt cx="0" cy="0"/>
        </a:xfrm>
      </p:grpSpPr>
      <p:sp>
        <p:nvSpPr>
          <p:cNvPr id="203" name="Rectangle 1"/>
          <p:cNvSpPr/>
          <p:nvPr/>
        </p:nvSpPr>
        <p:spPr>
          <a:xfrm>
            <a:off x="0" y="0"/>
            <a:ext cx="12191400" cy="7272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204" name="TextBox 2"/>
          <p:cNvSpPr/>
          <p:nvPr/>
        </p:nvSpPr>
        <p:spPr>
          <a:xfrm>
            <a:off x="438840" y="201240"/>
            <a:ext cx="1124676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200" spc="-1" strike="noStrike">
                <a:solidFill>
                  <a:srgbClr val="8f6e32"/>
                </a:solidFill>
                <a:latin typeface="Calibri"/>
                <a:ea typeface="Calibri"/>
              </a:rPr>
              <a:t>PROJECT 2  ·  LAND COVER</a:t>
            </a:r>
            <a:endParaRPr b="0" lang="en-US" sz="1200" spc="-1" strike="noStrike">
              <a:solidFill>
                <a:srgbClr val="000000"/>
              </a:solidFill>
              <a:latin typeface="Arial"/>
            </a:endParaRPr>
          </a:p>
        </p:txBody>
      </p:sp>
      <p:sp>
        <p:nvSpPr>
          <p:cNvPr id="205" name="TextBox 3"/>
          <p:cNvSpPr/>
          <p:nvPr/>
        </p:nvSpPr>
        <p:spPr>
          <a:xfrm>
            <a:off x="438840" y="420480"/>
            <a:ext cx="11246760" cy="4384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800" spc="-1" strike="noStrike">
                <a:solidFill>
                  <a:srgbClr val="1c2430"/>
                </a:solidFill>
                <a:latin typeface="Calibri"/>
                <a:ea typeface="Calibri"/>
              </a:rPr>
              <a:t>Greener pixels are cooler. Built-up pixels are hotter.</a:t>
            </a:r>
            <a:endParaRPr b="0" lang="en-US" sz="2800" spc="-1" strike="noStrike">
              <a:solidFill>
                <a:srgbClr val="000000"/>
              </a:solidFill>
              <a:latin typeface="Arial"/>
            </a:endParaRPr>
          </a:p>
        </p:txBody>
      </p:sp>
      <p:sp>
        <p:nvSpPr>
          <p:cNvPr id="206" name="Rectangle 4"/>
          <p:cNvSpPr/>
          <p:nvPr/>
        </p:nvSpPr>
        <p:spPr>
          <a:xfrm>
            <a:off x="0" y="6565320"/>
            <a:ext cx="12191400" cy="292320"/>
          </a:xfrm>
          <a:prstGeom prst="rect">
            <a:avLst/>
          </a:prstGeom>
          <a:solidFill>
            <a:srgbClr val="1433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7" name="TextBox 5"/>
          <p:cNvSpPr/>
          <p:nvPr/>
        </p:nvSpPr>
        <p:spPr>
          <a:xfrm>
            <a:off x="411480" y="6602040"/>
            <a:ext cx="8412120" cy="219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100" spc="-1" strike="noStrike">
                <a:solidFill>
                  <a:srgbClr val="d5e4db"/>
                </a:solidFill>
                <a:latin typeface="Calibri"/>
                <a:ea typeface="Calibri"/>
              </a:rPr>
              <a:t>Nancy Verma  ·  Remote Sensing and GIS Using Python</a:t>
            </a:r>
            <a:endParaRPr b="0" lang="en-US" sz="1100" spc="-1" strike="noStrike">
              <a:solidFill>
                <a:srgbClr val="000000"/>
              </a:solidFill>
              <a:latin typeface="Arial"/>
            </a:endParaRPr>
          </a:p>
        </p:txBody>
      </p:sp>
      <p:sp>
        <p:nvSpPr>
          <p:cNvPr id="208" name="TextBox 6"/>
          <p:cNvSpPr/>
          <p:nvPr/>
        </p:nvSpPr>
        <p:spPr>
          <a:xfrm>
            <a:off x="10241280" y="6602040"/>
            <a:ext cx="1554120" cy="219240"/>
          </a:xfrm>
          <a:prstGeom prst="rect">
            <a:avLst/>
          </a:prstGeom>
          <a:noFill/>
          <a:ln w="0">
            <a:noFill/>
          </a:ln>
        </p:spPr>
        <p:style>
          <a:lnRef idx="0"/>
          <a:fillRef idx="0"/>
          <a:effectRef idx="0"/>
          <a:fontRef idx="minor"/>
        </p:style>
        <p:txBody>
          <a:bodyPr lIns="0" rIns="0" tIns="0" bIns="0" anchor="t">
            <a:noAutofit/>
          </a:bodyPr>
          <a:p>
            <a:pPr algn="r" defTabSz="457200">
              <a:lnSpc>
                <a:spcPct val="100000"/>
              </a:lnSpc>
            </a:pPr>
            <a:r>
              <a:rPr b="1" lang="en-US" sz="1100" spc="-1" strike="noStrike">
                <a:solidFill>
                  <a:srgbClr val="ffffff"/>
                </a:solidFill>
                <a:latin typeface="Calibri"/>
                <a:ea typeface="Calibri"/>
              </a:rPr>
              <a:t>7  /  8</a:t>
            </a:r>
            <a:endParaRPr b="0" lang="en-US" sz="1100" spc="-1" strike="noStrike">
              <a:solidFill>
                <a:srgbClr val="000000"/>
              </a:solidFill>
              <a:latin typeface="Arial"/>
            </a:endParaRPr>
          </a:p>
        </p:txBody>
      </p:sp>
      <p:pic>
        <p:nvPicPr>
          <p:cNvPr id="209" name="Picture 7" descr="fig09-ndvi-lst.jpg"/>
          <p:cNvPicPr/>
          <p:nvPr/>
        </p:nvPicPr>
        <p:blipFill>
          <a:blip r:embed="rId1"/>
          <a:stretch/>
        </p:blipFill>
        <p:spPr>
          <a:xfrm>
            <a:off x="365760" y="1097280"/>
            <a:ext cx="5668920" cy="2516040"/>
          </a:xfrm>
          <a:prstGeom prst="rect">
            <a:avLst/>
          </a:prstGeom>
          <a:ln w="0">
            <a:noFill/>
          </a:ln>
        </p:spPr>
      </p:pic>
      <p:pic>
        <p:nvPicPr>
          <p:cNvPr id="210" name="Picture 8" descr="fig10-ndbi-lst.jpg"/>
          <p:cNvPicPr/>
          <p:nvPr/>
        </p:nvPicPr>
        <p:blipFill>
          <a:blip r:embed="rId2"/>
          <a:stretch/>
        </p:blipFill>
        <p:spPr>
          <a:xfrm>
            <a:off x="6172200" y="1097280"/>
            <a:ext cx="5668920" cy="2516040"/>
          </a:xfrm>
          <a:prstGeom prst="rect">
            <a:avLst/>
          </a:prstGeom>
          <a:ln w="0">
            <a:noFill/>
          </a:ln>
        </p:spPr>
      </p:pic>
      <p:sp>
        <p:nvSpPr>
          <p:cNvPr id="211" name="Rounded Rectangle 9"/>
          <p:cNvSpPr/>
          <p:nvPr/>
        </p:nvSpPr>
        <p:spPr>
          <a:xfrm>
            <a:off x="365760" y="3794760"/>
            <a:ext cx="5668920" cy="1234080"/>
          </a:xfrm>
          <a:prstGeom prst="roundRect">
            <a:avLst>
              <a:gd name="adj" fmla="val 6000"/>
            </a:avLst>
          </a:prstGeom>
          <a:solidFill>
            <a:srgbClr val="e4f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2" name="TextBox 10"/>
          <p:cNvSpPr/>
          <p:nvPr/>
        </p:nvSpPr>
        <p:spPr>
          <a:xfrm>
            <a:off x="530280" y="3913560"/>
            <a:ext cx="5348880" cy="7524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201"/>
              </a:spcAft>
            </a:pPr>
            <a:r>
              <a:rPr b="1" lang="en-US" sz="1600" spc="-1" strike="noStrike">
                <a:solidFill>
                  <a:srgbClr val="1b5640"/>
                </a:solidFill>
                <a:latin typeface="Calibri"/>
                <a:ea typeface="Calibri"/>
              </a:rPr>
              <a:t>NDVI and temperature</a:t>
            </a:r>
            <a:endParaRPr b="0" lang="en-US" sz="1600" spc="-1" strike="noStrike">
              <a:solidFill>
                <a:srgbClr val="000000"/>
              </a:solidFill>
              <a:latin typeface="Arial"/>
            </a:endParaRPr>
          </a:p>
          <a:p>
            <a:pPr defTabSz="457200">
              <a:lnSpc>
                <a:spcPct val="100000"/>
              </a:lnSpc>
              <a:spcAft>
                <a:spcPts val="201"/>
              </a:spcAft>
            </a:pPr>
            <a:r>
              <a:rPr b="0" lang="en-US" sz="1500" spc="-1" strike="noStrike">
                <a:solidFill>
                  <a:srgbClr val="1c2430"/>
                </a:solidFill>
                <a:latin typeface="Calibri"/>
                <a:ea typeface="Calibri"/>
              </a:rPr>
              <a:t>LST = −15.058 × NDVI + 50.54</a:t>
            </a:r>
            <a:endParaRPr b="0" lang="en-US" sz="1500" spc="-1" strike="noStrike">
              <a:solidFill>
                <a:srgbClr val="000000"/>
              </a:solidFill>
              <a:latin typeface="Arial"/>
            </a:endParaRPr>
          </a:p>
          <a:p>
            <a:pPr defTabSz="457200">
              <a:lnSpc>
                <a:spcPct val="100000"/>
              </a:lnSpc>
              <a:spcAft>
                <a:spcPts val="201"/>
              </a:spcAft>
            </a:pPr>
            <a:r>
              <a:rPr b="0" lang="en-US" sz="1500" spc="-1" strike="noStrike">
                <a:solidFill>
                  <a:srgbClr val="1c2430"/>
                </a:solidFill>
                <a:latin typeface="Calibri"/>
                <a:ea typeface="Calibri"/>
              </a:rPr>
              <a:t>r² = 0.263     ·     the line slopes down</a:t>
            </a:r>
            <a:endParaRPr b="0" lang="en-US" sz="1500" spc="-1" strike="noStrike">
              <a:solidFill>
                <a:srgbClr val="000000"/>
              </a:solidFill>
              <a:latin typeface="Arial"/>
            </a:endParaRPr>
          </a:p>
        </p:txBody>
      </p:sp>
      <p:sp>
        <p:nvSpPr>
          <p:cNvPr id="213" name="Rounded Rectangle 11"/>
          <p:cNvSpPr/>
          <p:nvPr/>
        </p:nvSpPr>
        <p:spPr>
          <a:xfrm>
            <a:off x="6172200" y="3794760"/>
            <a:ext cx="5623200" cy="1234080"/>
          </a:xfrm>
          <a:prstGeom prst="roundRect">
            <a:avLst>
              <a:gd name="adj" fmla="val 6000"/>
            </a:avLst>
          </a:prstGeom>
          <a:solidFill>
            <a:srgbClr val="f8ea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4" name="TextBox 12"/>
          <p:cNvSpPr/>
          <p:nvPr/>
        </p:nvSpPr>
        <p:spPr>
          <a:xfrm>
            <a:off x="6336720" y="3913560"/>
            <a:ext cx="5303160" cy="7524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201"/>
              </a:spcAft>
            </a:pPr>
            <a:r>
              <a:rPr b="1" lang="en-US" sz="1600" spc="-1" strike="noStrike">
                <a:solidFill>
                  <a:srgbClr val="b03e2c"/>
                </a:solidFill>
                <a:latin typeface="Calibri"/>
                <a:ea typeface="Calibri"/>
              </a:rPr>
              <a:t>NDBI and temperature</a:t>
            </a:r>
            <a:endParaRPr b="0" lang="en-US" sz="1600" spc="-1" strike="noStrike">
              <a:solidFill>
                <a:srgbClr val="000000"/>
              </a:solidFill>
              <a:latin typeface="Arial"/>
            </a:endParaRPr>
          </a:p>
          <a:p>
            <a:pPr defTabSz="457200">
              <a:lnSpc>
                <a:spcPct val="100000"/>
              </a:lnSpc>
              <a:spcAft>
                <a:spcPts val="201"/>
              </a:spcAft>
            </a:pPr>
            <a:r>
              <a:rPr b="0" lang="en-US" sz="1500" spc="-1" strike="noStrike">
                <a:solidFill>
                  <a:srgbClr val="1c2430"/>
                </a:solidFill>
                <a:latin typeface="Calibri"/>
                <a:ea typeface="Calibri"/>
              </a:rPr>
              <a:t>LST = 30.807 × NDBI + 46.935</a:t>
            </a:r>
            <a:endParaRPr b="0" lang="en-US" sz="1500" spc="-1" strike="noStrike">
              <a:solidFill>
                <a:srgbClr val="000000"/>
              </a:solidFill>
              <a:latin typeface="Arial"/>
            </a:endParaRPr>
          </a:p>
          <a:p>
            <a:pPr defTabSz="457200">
              <a:lnSpc>
                <a:spcPct val="100000"/>
              </a:lnSpc>
              <a:spcAft>
                <a:spcPts val="201"/>
              </a:spcAft>
            </a:pPr>
            <a:r>
              <a:rPr b="0" lang="en-US" sz="1500" spc="-1" strike="noStrike">
                <a:solidFill>
                  <a:srgbClr val="1c2430"/>
                </a:solidFill>
                <a:latin typeface="Calibri"/>
                <a:ea typeface="Calibri"/>
              </a:rPr>
              <a:t>r² = 0.574     ·     the line slopes up</a:t>
            </a:r>
            <a:endParaRPr b="0" lang="en-US" sz="1500" spc="-1" strike="noStrike">
              <a:solidFill>
                <a:srgbClr val="000000"/>
              </a:solidFill>
              <a:latin typeface="Arial"/>
            </a:endParaRPr>
          </a:p>
        </p:txBody>
      </p:sp>
      <p:sp>
        <p:nvSpPr>
          <p:cNvPr id="215" name="TextBox 13"/>
          <p:cNvSpPr/>
          <p:nvPr/>
        </p:nvSpPr>
        <p:spPr>
          <a:xfrm>
            <a:off x="411480" y="5166360"/>
            <a:ext cx="11338200" cy="10969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600" spc="-1" strike="noStrike">
                <a:solidFill>
                  <a:srgbClr val="1c2430"/>
                </a:solidFill>
                <a:latin typeface="Calibri"/>
                <a:ea typeface="Calibri"/>
              </a:rPr>
              <a:t>The scatter is wide, especially for NDVI. In this summer composite the built-up index lines up more closely with surface temperature. These fits describe the plotted pixels. They do not, by themselves, prove cause.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3ec"/>
        </a:solidFill>
      </p:bgPr>
    </p:bg>
    <p:spTree>
      <p:nvGrpSpPr>
        <p:cNvPr id="1" name=""/>
        <p:cNvGrpSpPr/>
        <p:nvPr/>
      </p:nvGrpSpPr>
      <p:grpSpPr>
        <a:xfrm>
          <a:off x="0" y="0"/>
          <a:ext cx="0" cy="0"/>
          <a:chOff x="0" y="0"/>
          <a:chExt cx="0" cy="0"/>
        </a:xfrm>
      </p:grpSpPr>
      <p:sp>
        <p:nvSpPr>
          <p:cNvPr id="216" name="Rectangle 1"/>
          <p:cNvSpPr/>
          <p:nvPr/>
        </p:nvSpPr>
        <p:spPr>
          <a:xfrm>
            <a:off x="0" y="0"/>
            <a:ext cx="12191400" cy="7272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217" name="TextBox 2"/>
          <p:cNvSpPr/>
          <p:nvPr/>
        </p:nvSpPr>
        <p:spPr>
          <a:xfrm>
            <a:off x="438840" y="201240"/>
            <a:ext cx="11246760" cy="237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200" spc="-1" strike="noStrike">
                <a:solidFill>
                  <a:srgbClr val="8f6e32"/>
                </a:solidFill>
                <a:latin typeface="Calibri"/>
                <a:ea typeface="Calibri"/>
              </a:rPr>
              <a:t>CLOSING</a:t>
            </a:r>
            <a:endParaRPr b="0" lang="en-US" sz="1200" spc="-1" strike="noStrike">
              <a:solidFill>
                <a:srgbClr val="000000"/>
              </a:solidFill>
              <a:latin typeface="Arial"/>
            </a:endParaRPr>
          </a:p>
        </p:txBody>
      </p:sp>
      <p:sp>
        <p:nvSpPr>
          <p:cNvPr id="218" name="TextBox 3"/>
          <p:cNvSpPr/>
          <p:nvPr/>
        </p:nvSpPr>
        <p:spPr>
          <a:xfrm>
            <a:off x="438840" y="420480"/>
            <a:ext cx="11246760" cy="4384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800" spc="-1" strike="noStrike">
                <a:solidFill>
                  <a:srgbClr val="1c2430"/>
                </a:solidFill>
                <a:latin typeface="Calibri"/>
                <a:ea typeface="Calibri"/>
              </a:rPr>
              <a:t>What these maps can support</a:t>
            </a:r>
            <a:endParaRPr b="0" lang="en-US" sz="2800" spc="-1" strike="noStrike">
              <a:solidFill>
                <a:srgbClr val="000000"/>
              </a:solidFill>
              <a:latin typeface="Arial"/>
            </a:endParaRPr>
          </a:p>
        </p:txBody>
      </p:sp>
      <p:sp>
        <p:nvSpPr>
          <p:cNvPr id="219" name="Rectangle 4"/>
          <p:cNvSpPr/>
          <p:nvPr/>
        </p:nvSpPr>
        <p:spPr>
          <a:xfrm>
            <a:off x="0" y="6565320"/>
            <a:ext cx="12191400" cy="292320"/>
          </a:xfrm>
          <a:prstGeom prst="rect">
            <a:avLst/>
          </a:prstGeom>
          <a:solidFill>
            <a:srgbClr val="1433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0" name="TextBox 5"/>
          <p:cNvSpPr/>
          <p:nvPr/>
        </p:nvSpPr>
        <p:spPr>
          <a:xfrm>
            <a:off x="411480" y="6602040"/>
            <a:ext cx="8412120" cy="21924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100" spc="-1" strike="noStrike">
                <a:solidFill>
                  <a:srgbClr val="d5e4db"/>
                </a:solidFill>
                <a:latin typeface="Calibri"/>
                <a:ea typeface="Calibri"/>
              </a:rPr>
              <a:t>Nancy Verma  ·  Remote Sensing and GIS Using Python</a:t>
            </a:r>
            <a:endParaRPr b="0" lang="en-US" sz="1100" spc="-1" strike="noStrike">
              <a:solidFill>
                <a:srgbClr val="000000"/>
              </a:solidFill>
              <a:latin typeface="Arial"/>
            </a:endParaRPr>
          </a:p>
        </p:txBody>
      </p:sp>
      <p:sp>
        <p:nvSpPr>
          <p:cNvPr id="221" name="TextBox 6"/>
          <p:cNvSpPr/>
          <p:nvPr/>
        </p:nvSpPr>
        <p:spPr>
          <a:xfrm>
            <a:off x="10241280" y="6602040"/>
            <a:ext cx="1554120" cy="219240"/>
          </a:xfrm>
          <a:prstGeom prst="rect">
            <a:avLst/>
          </a:prstGeom>
          <a:noFill/>
          <a:ln w="0">
            <a:noFill/>
          </a:ln>
        </p:spPr>
        <p:style>
          <a:lnRef idx="0"/>
          <a:fillRef idx="0"/>
          <a:effectRef idx="0"/>
          <a:fontRef idx="minor"/>
        </p:style>
        <p:txBody>
          <a:bodyPr lIns="0" rIns="0" tIns="0" bIns="0" anchor="t">
            <a:noAutofit/>
          </a:bodyPr>
          <a:p>
            <a:pPr algn="r" defTabSz="457200">
              <a:lnSpc>
                <a:spcPct val="100000"/>
              </a:lnSpc>
            </a:pPr>
            <a:r>
              <a:rPr b="1" lang="en-US" sz="1100" spc="-1" strike="noStrike">
                <a:solidFill>
                  <a:srgbClr val="ffffff"/>
                </a:solidFill>
                <a:latin typeface="Calibri"/>
                <a:ea typeface="Calibri"/>
              </a:rPr>
              <a:t>8  /  8</a:t>
            </a:r>
            <a:endParaRPr b="0" lang="en-US" sz="1100" spc="-1" strike="noStrike">
              <a:solidFill>
                <a:srgbClr val="000000"/>
              </a:solidFill>
              <a:latin typeface="Arial"/>
            </a:endParaRPr>
          </a:p>
        </p:txBody>
      </p:sp>
      <p:sp>
        <p:nvSpPr>
          <p:cNvPr id="222" name="Rounded Rectangle 7"/>
          <p:cNvSpPr/>
          <p:nvPr/>
        </p:nvSpPr>
        <p:spPr>
          <a:xfrm>
            <a:off x="438840" y="1115640"/>
            <a:ext cx="11292480" cy="1170000"/>
          </a:xfrm>
          <a:prstGeom prst="roundRect">
            <a:avLst>
              <a:gd name="adj" fmla="val 6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3" name="Rectangle 8"/>
          <p:cNvSpPr/>
          <p:nvPr/>
        </p:nvSpPr>
        <p:spPr>
          <a:xfrm>
            <a:off x="438840" y="1115640"/>
            <a:ext cx="109440" cy="1170000"/>
          </a:xfrm>
          <a:prstGeom prst="rect">
            <a:avLst/>
          </a:prstGeom>
          <a:solidFill>
            <a:srgbClr val="1b56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4" name="TextBox 9"/>
          <p:cNvSpPr/>
          <p:nvPr/>
        </p:nvSpPr>
        <p:spPr>
          <a:xfrm>
            <a:off x="777240" y="1261800"/>
            <a:ext cx="1069812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800" spc="-1" strike="noStrike">
                <a:solidFill>
                  <a:srgbClr val="1c2430"/>
                </a:solidFill>
                <a:latin typeface="Calibri"/>
                <a:ea typeface="Calibri"/>
              </a:rPr>
              <a:t>Jalna, 2023</a:t>
            </a:r>
            <a:endParaRPr b="0" lang="en-US" sz="1800" spc="-1" strike="noStrike">
              <a:solidFill>
                <a:srgbClr val="000000"/>
              </a:solidFill>
              <a:latin typeface="Arial"/>
            </a:endParaRPr>
          </a:p>
        </p:txBody>
      </p:sp>
      <p:sp>
        <p:nvSpPr>
          <p:cNvPr id="225" name="TextBox 10"/>
          <p:cNvSpPr/>
          <p:nvPr/>
        </p:nvSpPr>
        <p:spPr>
          <a:xfrm>
            <a:off x="777240" y="1627560"/>
            <a:ext cx="10698120" cy="5299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500" spc="-1" strike="noStrike">
                <a:solidFill>
                  <a:srgbClr val="5c656e"/>
                </a:solidFill>
                <a:latin typeface="Calibri"/>
                <a:ea typeface="Calibri"/>
              </a:rPr>
              <a:t>Mild drought covers 87.69% of the classified area. Extreme drought is 8.55 km². The mean VCI is 0.488.</a:t>
            </a:r>
            <a:endParaRPr b="0" lang="en-US" sz="1500" spc="-1" strike="noStrike">
              <a:solidFill>
                <a:srgbClr val="000000"/>
              </a:solidFill>
              <a:latin typeface="Arial"/>
            </a:endParaRPr>
          </a:p>
        </p:txBody>
      </p:sp>
      <p:sp>
        <p:nvSpPr>
          <p:cNvPr id="226" name="Rounded Rectangle 11"/>
          <p:cNvSpPr/>
          <p:nvPr/>
        </p:nvSpPr>
        <p:spPr>
          <a:xfrm>
            <a:off x="438840" y="2414160"/>
            <a:ext cx="11292480" cy="1170000"/>
          </a:xfrm>
          <a:prstGeom prst="roundRect">
            <a:avLst>
              <a:gd name="adj" fmla="val 6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7" name="Rectangle 12"/>
          <p:cNvSpPr/>
          <p:nvPr/>
        </p:nvSpPr>
        <p:spPr>
          <a:xfrm>
            <a:off x="438840" y="2414160"/>
            <a:ext cx="109440" cy="1170000"/>
          </a:xfrm>
          <a:prstGeom prst="rect">
            <a:avLst/>
          </a:prstGeom>
          <a:solidFill>
            <a:srgbClr val="b03e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8" name="TextBox 13"/>
          <p:cNvSpPr/>
          <p:nvPr/>
        </p:nvSpPr>
        <p:spPr>
          <a:xfrm>
            <a:off x="777240" y="2560320"/>
            <a:ext cx="1069812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800" spc="-1" strike="noStrike">
                <a:solidFill>
                  <a:srgbClr val="1c2430"/>
                </a:solidFill>
                <a:latin typeface="Calibri"/>
                <a:ea typeface="Calibri"/>
              </a:rPr>
              <a:t>Delhi, summer 2024</a:t>
            </a:r>
            <a:endParaRPr b="0" lang="en-US" sz="1800" spc="-1" strike="noStrike">
              <a:solidFill>
                <a:srgbClr val="000000"/>
              </a:solidFill>
              <a:latin typeface="Arial"/>
            </a:endParaRPr>
          </a:p>
        </p:txBody>
      </p:sp>
      <p:sp>
        <p:nvSpPr>
          <p:cNvPr id="229" name="TextBox 14"/>
          <p:cNvSpPr/>
          <p:nvPr/>
        </p:nvSpPr>
        <p:spPr>
          <a:xfrm>
            <a:off x="777240" y="2926080"/>
            <a:ext cx="10698120" cy="5299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500" spc="-1" strike="noStrike">
                <a:solidFill>
                  <a:srgbClr val="5c656e"/>
                </a:solidFill>
                <a:latin typeface="Calibri"/>
                <a:ea typeface="Calibri"/>
              </a:rPr>
              <a:t>Land surface temperature runs from 33.10°C to 57.71°C. The area above 50°C is 17.25% of the classified surface.</a:t>
            </a:r>
            <a:endParaRPr b="0" lang="en-US" sz="1500" spc="-1" strike="noStrike">
              <a:solidFill>
                <a:srgbClr val="000000"/>
              </a:solidFill>
              <a:latin typeface="Arial"/>
            </a:endParaRPr>
          </a:p>
        </p:txBody>
      </p:sp>
      <p:sp>
        <p:nvSpPr>
          <p:cNvPr id="230" name="Rounded Rectangle 15"/>
          <p:cNvSpPr/>
          <p:nvPr/>
        </p:nvSpPr>
        <p:spPr>
          <a:xfrm>
            <a:off x="438840" y="3712320"/>
            <a:ext cx="11292480" cy="1170000"/>
          </a:xfrm>
          <a:prstGeom prst="roundRect">
            <a:avLst>
              <a:gd name="adj" fmla="val 6000"/>
            </a:avLst>
          </a:prstGeom>
          <a:solidFill>
            <a:srgbClr val="ffffff"/>
          </a:solidFill>
          <a:ln w="12700">
            <a:solidFill>
              <a:srgbClr val="e2db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 name="Rectangle 16"/>
          <p:cNvSpPr/>
          <p:nvPr/>
        </p:nvSpPr>
        <p:spPr>
          <a:xfrm>
            <a:off x="438840" y="3712320"/>
            <a:ext cx="109440" cy="1170000"/>
          </a:xfrm>
          <a:prstGeom prst="rect">
            <a:avLst/>
          </a:prstGeom>
          <a:solidFill>
            <a:srgbClr val="8f6e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2" name="TextBox 17"/>
          <p:cNvSpPr/>
          <p:nvPr/>
        </p:nvSpPr>
        <p:spPr>
          <a:xfrm>
            <a:off x="777240" y="3858840"/>
            <a:ext cx="10698120" cy="32868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1800" spc="-1" strike="noStrike">
                <a:solidFill>
                  <a:srgbClr val="1c2430"/>
                </a:solidFill>
                <a:latin typeface="Calibri"/>
                <a:ea typeface="Calibri"/>
              </a:rPr>
              <a:t>How to read them</a:t>
            </a:r>
            <a:endParaRPr b="0" lang="en-US" sz="1800" spc="-1" strike="noStrike">
              <a:solidFill>
                <a:srgbClr val="000000"/>
              </a:solidFill>
              <a:latin typeface="Arial"/>
            </a:endParaRPr>
          </a:p>
        </p:txBody>
      </p:sp>
      <p:sp>
        <p:nvSpPr>
          <p:cNvPr id="233" name="TextBox 18"/>
          <p:cNvSpPr/>
          <p:nvPr/>
        </p:nvSpPr>
        <p:spPr>
          <a:xfrm>
            <a:off x="777240" y="4224600"/>
            <a:ext cx="10698120" cy="5299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500" spc="-1" strike="noStrike">
                <a:solidFill>
                  <a:srgbClr val="5c656e"/>
                </a:solidFill>
                <a:latin typeface="Calibri"/>
                <a:ea typeface="Calibri"/>
              </a:rPr>
              <a:t>Both are satellite screening maps. They were not checked against field measurements, rainfall, or air temperature.</a:t>
            </a:r>
            <a:endParaRPr b="0" lang="en-US" sz="1500" spc="-1" strike="noStrike">
              <a:solidFill>
                <a:srgbClr val="000000"/>
              </a:solidFill>
              <a:latin typeface="Arial"/>
            </a:endParaRPr>
          </a:p>
        </p:txBody>
      </p:sp>
      <p:sp>
        <p:nvSpPr>
          <p:cNvPr id="234" name="TextBox 19"/>
          <p:cNvSpPr/>
          <p:nvPr/>
        </p:nvSpPr>
        <p:spPr>
          <a:xfrm>
            <a:off x="457200" y="5120640"/>
            <a:ext cx="11246760" cy="41112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1" lang="en-US" sz="2800" spc="-1" strike="noStrike">
                <a:solidFill>
                  <a:srgbClr val="1b5640"/>
                </a:solidFill>
                <a:latin typeface="Calibri"/>
                <a:ea typeface="Calibri"/>
              </a:rPr>
              <a:t>Thank you.</a:t>
            </a:r>
            <a:endParaRPr b="0" lang="en-US" sz="2800" spc="-1" strike="noStrike">
              <a:solidFill>
                <a:srgbClr val="000000"/>
              </a:solidFill>
              <a:latin typeface="Arial"/>
            </a:endParaRPr>
          </a:p>
        </p:txBody>
      </p:sp>
      <p:sp>
        <p:nvSpPr>
          <p:cNvPr id="235" name="TextBox 20"/>
          <p:cNvSpPr/>
          <p:nvPr/>
        </p:nvSpPr>
        <p:spPr>
          <a:xfrm>
            <a:off x="457200" y="5623560"/>
            <a:ext cx="11246760" cy="365400"/>
          </a:xfrm>
          <a:prstGeom prst="rect">
            <a:avLst/>
          </a:prstGeom>
          <a:noFill/>
          <a:ln w="0">
            <a:noFill/>
          </a:ln>
        </p:spPr>
        <p:style>
          <a:lnRef idx="0"/>
          <a:fillRef idx="0"/>
          <a:effectRef idx="0"/>
          <a:fontRef idx="minor"/>
        </p:style>
        <p:txBody>
          <a:bodyPr lIns="0" rIns="0" tIns="0" bIns="0" anchor="t">
            <a:noAutofit/>
          </a:bodyPr>
          <a:p>
            <a:pPr defTabSz="457200">
              <a:lnSpc>
                <a:spcPct val="100000"/>
              </a:lnSpc>
            </a:pPr>
            <a:r>
              <a:rPr b="0" lang="en-US" sz="1600" spc="-1" strike="noStrike">
                <a:solidFill>
                  <a:srgbClr val="1c2430"/>
                </a:solidFill>
                <a:latin typeface="Calibri"/>
                <a:ea typeface="Calibri"/>
              </a:rPr>
              <a:t>I can take questions on the data, the class breaks, or the maps.</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Nancy Verma</dc:creator>
  <dc:description>generated using python-pptx</dc:description>
  <dc:language>en-US</dc:language>
  <cp:lastModifiedBy>Steve Canny</cp:lastModifiedBy>
  <dcterms:modified xsi:type="dcterms:W3CDTF">2013-01-27T09:15:58Z</dcterms:modified>
  <cp:revision>1</cp:revision>
  <dc:subject>Industrial training presentation, eight slides</dc:subject>
  <dc:title>Remote Sensing and GIS Using Python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